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73" r:id="rId3"/>
    <p:sldId id="257" r:id="rId4"/>
    <p:sldId id="259" r:id="rId5"/>
    <p:sldId id="260" r:id="rId6"/>
    <p:sldId id="274" r:id="rId7"/>
    <p:sldId id="275" r:id="rId8"/>
    <p:sldId id="263" r:id="rId9"/>
    <p:sldId id="277" r:id="rId10"/>
    <p:sldId id="268" r:id="rId11"/>
  </p:sldIdLst>
  <p:sldSz cx="12192000" cy="6858000"/>
  <p:notesSz cx="7104063" cy="10234613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FFF"/>
    <a:srgbClr val="73C2FB"/>
    <a:srgbClr val="D1EAF0"/>
    <a:srgbClr val="BCD4E6"/>
    <a:srgbClr val="1034A6"/>
    <a:srgbClr val="191970"/>
    <a:srgbClr val="643200"/>
    <a:srgbClr val="7F432F"/>
    <a:srgbClr val="060B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587" autoAdjust="0"/>
    <p:restoredTop sz="94660"/>
  </p:normalViewPr>
  <p:slideViewPr>
    <p:cSldViewPr snapToGrid="0">
      <p:cViewPr varScale="1">
        <p:scale>
          <a:sx n="93" d="100"/>
          <a:sy n="93" d="100"/>
        </p:scale>
        <p:origin x="88" y="1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5527" tIns="47764" rIns="95527" bIns="47764" rtlCol="0"/>
          <a:lstStyle>
            <a:lvl1pPr algn="l">
              <a:defRPr sz="13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5527" tIns="47764" rIns="95527" bIns="47764" rtlCol="0"/>
          <a:lstStyle>
            <a:lvl1pPr algn="r">
              <a:defRPr sz="1300"/>
            </a:lvl1pPr>
          </a:lstStyle>
          <a:p>
            <a:fld id="{2284EA81-89A7-420A-9D6C-1F02F230B1F0}" type="datetimeFigureOut">
              <a:rPr lang="de-DE" smtClean="0"/>
              <a:t>15.03.2026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2037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527" tIns="47764" rIns="95527" bIns="47764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5527" tIns="47764" rIns="95527" bIns="47764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5527" tIns="47764" rIns="95527" bIns="47764" rtlCol="0" anchor="b"/>
          <a:lstStyle>
            <a:lvl1pPr algn="l">
              <a:defRPr sz="13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5527" tIns="47764" rIns="95527" bIns="47764" rtlCol="0" anchor="b"/>
          <a:lstStyle>
            <a:lvl1pPr algn="r">
              <a:defRPr sz="1300"/>
            </a:lvl1pPr>
          </a:lstStyle>
          <a:p>
            <a:fld id="{8DE33D8B-9CF5-4846-8D10-AA31112C71A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867246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E33D8B-9CF5-4846-8D10-AA31112C71A5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122683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E33D8B-9CF5-4846-8D10-AA31112C71A5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633083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C1A816-2209-8637-892F-892B8F4201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8889795-BB0B-F60C-DCDE-2B5C3EAAF2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7CD2AAC-8E39-7503-C724-F8F75D0E0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93AF1-E507-4FC1-AAF4-35461B54438B}" type="datetime1">
              <a:rPr lang="de-DE" smtClean="0"/>
              <a:t>15.03.2026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48C77AE-576F-0FF1-9314-DC0F6A7C0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996B175-48AC-8685-D97E-1ED552C8F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3EF5A-7514-4853-9EFC-86B13A32C4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0670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DD0A66-EB40-98D8-0AD5-E0EE46C12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0A94E4D-ECE0-0087-A3EE-0C3B4B9B36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10B9A3F-9D93-B5D3-2828-052375FB5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C8BA9-D863-47E0-ABF6-4A0510D3C411}" type="datetime1">
              <a:rPr lang="de-DE" smtClean="0"/>
              <a:t>15.03.2026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DB79F36-61B1-AC42-C0D9-B34DFC458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E50904-2981-7723-E362-332E38303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3EF5A-7514-4853-9EFC-86B13A32C4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54293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ED9622-5BEC-3BE4-372E-8733EDC65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1AB4B8B-1E57-7CF3-07A5-9F7CC4141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FED2EAE-4CC7-92A0-1DD8-3EFCD4270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1689C-3761-4014-BC91-5A35C259A648}" type="datetime1">
              <a:rPr lang="de-DE" smtClean="0"/>
              <a:t>15.03.2026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078DAFC-ED3D-8AA1-0C06-FCFBFE6F7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A50DB51-6A1C-9151-C298-8AF9110A0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3EF5A-7514-4853-9EFC-86B13A32C4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30568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745AB0-3799-40D8-D295-C939A675D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60114E1-AF34-40E3-F7E5-D42A9DF5D6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8CC5CF6-170A-75D3-32F3-224DBCF4B3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8CBD6B0-5AD9-C194-B333-32EE7F683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B975C-C8DB-44EB-9065-4294E53300FB}" type="datetime1">
              <a:rPr lang="de-DE" smtClean="0"/>
              <a:t>15.03.2026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D082815-D74D-5CED-B1EB-5A51AA059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0BF6D70-CAB4-6C75-0E3B-845893013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3EF5A-7514-4853-9EFC-86B13A32C4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41746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8169F8-4CE1-2942-3DDE-BE5CDE90C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9DD7B3D-9055-5DC0-DF65-69A6A80E11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7129490-5576-139D-697E-487B5F90FE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BC22D09-294F-776B-95A0-054611A9EA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026790C-557A-119C-D1B0-03F1F4A6AC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32E58EE-A8B8-0EA2-8240-139001561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CE801-2032-427F-B41F-0702522A585A}" type="datetime1">
              <a:rPr lang="de-DE" smtClean="0"/>
              <a:t>15.03.2026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2E53BD16-2057-8B5D-3226-E58F0B637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424B63F-F107-9C12-FEC0-5D0CA9132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3EF5A-7514-4853-9EFC-86B13A32C4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65001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604696-6363-26AB-B5B6-E0AB4EC8D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9D58168-15D5-8CB5-EF7F-D0D705810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F0CB5-474A-43B3-9685-ECD30059EFEB}" type="datetime1">
              <a:rPr lang="de-DE" smtClean="0"/>
              <a:t>15.03.2026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0E907B6-F4AC-7B94-589D-5A2794DE3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4C09D24-651A-C550-76D9-393D4E514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3EF5A-7514-4853-9EFC-86B13A32C4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03490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ED0225F-CAF2-2624-4126-C12666A70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30AF7-6744-46C2-8853-6AB3CCB98BD9}" type="datetime1">
              <a:rPr lang="de-DE" smtClean="0"/>
              <a:t>15.03.2026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9F29C5F-322F-EFD5-E149-03B54B5D4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574AC2D-3749-9041-F52C-DBFE2DEF6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3EF5A-7514-4853-9EFC-86B13A32C4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648782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C6169E-B7DF-A4E4-C581-ECCBCC8C6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BFCA2E7-6B4C-4195-05E8-1AE336A881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42381C2-3389-2973-2714-227CE0C997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FA8C4F1-8B5F-7A32-43FF-460463350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39262-7768-419F-A063-9CBDAB921AB6}" type="datetime1">
              <a:rPr lang="de-DE" smtClean="0"/>
              <a:t>15.03.2026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94E1185-D045-24A7-034D-E0220B53C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D19BCF2-970F-5716-E0C5-B6ECB03FF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3EF5A-7514-4853-9EFC-86B13A32C4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9706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82E538-56E3-3462-A6C7-C00F540AF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9EBF3CE-B74A-1FC1-3AD2-9B7A5A9A8B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195F2DD-05DA-CC6E-A7B3-D5DC582F05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19C3619-1FE7-8518-2E8F-05DB00D11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03D8C-DA9D-4C78-8C68-07C452C23620}" type="datetime1">
              <a:rPr lang="de-DE" smtClean="0"/>
              <a:t>15.03.2026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F5F86A6-18D7-9B5F-594C-311EA9172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FED7136-EE53-2F42-AEEB-34F7024C5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3EF5A-7514-4853-9EFC-86B13A32C4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9091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215678-7B0F-04DE-093E-F2E1E26BC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50C33DC-320C-D42A-1D5C-62D0691927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A2E76F4-3DBE-8EEB-3993-F81B2047F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DF2B2-21F4-4F5A-8988-5D5D6C78BEA1}" type="datetime1">
              <a:rPr lang="de-DE" smtClean="0"/>
              <a:t>15.03.2026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8D55E76-FA00-DFC2-8095-A0BD0EE65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AED0556-149B-1C4D-39FB-014233405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3EF5A-7514-4853-9EFC-86B13A32C4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46573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BA98B599-BC23-9D0F-E7C7-629878783D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9921B62-D4F7-3154-34ED-DD29142FA7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C98C666-4030-BA67-0486-DD308906C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008A7-2BF2-4CF6-BFBD-185EF8E16DDD}" type="datetime1">
              <a:rPr lang="de-DE" smtClean="0"/>
              <a:t>15.03.2026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DE003FD-FD49-43A0-D24A-8C226452E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ED7CA1B-6C11-D16C-DD26-4471F46F7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3EF5A-7514-4853-9EFC-86B13A32C4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9157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E46FF96D-AD45-E5AB-FEF5-A32B9071E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E363CEE-269E-10FD-59C8-CC3783BFB0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A0FC1B7-3B85-5130-FED6-58C09BD79D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64C86F-1E1E-45C4-ABA1-474A93FFF2C8}" type="datetime1">
              <a:rPr lang="de-DE" smtClean="0"/>
              <a:t>15.03.2026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4AF84D5-5E99-C1FE-46DE-633B37A0CE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ACCE62-8486-B8C5-4AD4-0364801FB1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73EF5A-7514-4853-9EFC-86B13A32C4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0978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linkedin.com/in/elena-wowchik-b00158295/" TargetMode="External"/><Relationship Id="rId4" Type="http://schemas.openxmlformats.org/officeDocument/2006/relationships/hyperlink" Target="https://github.com/Elena-Wowchik/Projekt_Zeiterfassung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Elena-Wowchik/Projekt_Zeiterfassung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3C2FB">
            <a:alpha val="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AE8DB51A-76DF-FB67-F924-C4EE19859ED7}"/>
              </a:ext>
            </a:extLst>
          </p:cNvPr>
          <p:cNvSpPr/>
          <p:nvPr/>
        </p:nvSpPr>
        <p:spPr>
          <a:xfrm>
            <a:off x="0" y="0"/>
            <a:ext cx="2359907" cy="6854699"/>
          </a:xfrm>
          <a:prstGeom prst="rect">
            <a:avLst/>
          </a:prstGeom>
          <a:solidFill>
            <a:srgbClr val="007FFF"/>
          </a:solidFill>
          <a:ln>
            <a:solidFill>
              <a:srgbClr val="7F432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70" y="88712"/>
            <a:ext cx="671887" cy="492442"/>
          </a:xfrm>
          <a:prstGeom prst="rect">
            <a:avLst/>
          </a:prstGeom>
        </p:spPr>
      </p:pic>
      <p:sp>
        <p:nvSpPr>
          <p:cNvPr id="3" name="Textfeld 2"/>
          <p:cNvSpPr txBox="1"/>
          <p:nvPr/>
        </p:nvSpPr>
        <p:spPr>
          <a:xfrm>
            <a:off x="781537" y="88712"/>
            <a:ext cx="1529019" cy="492443"/>
          </a:xfrm>
          <a:prstGeom prst="rect">
            <a:avLst/>
          </a:prstGeom>
          <a:solidFill>
            <a:schemeClr val="bg1"/>
          </a:solidFill>
          <a:ln>
            <a:solidFill>
              <a:srgbClr val="007F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>
                <a:solidFill>
                  <a:srgbClr val="1034A6"/>
                </a:solidFill>
              </a:rPr>
              <a:t>Zeiterfassung</a:t>
            </a:r>
          </a:p>
          <a:p>
            <a:pPr algn="ctr"/>
            <a:r>
              <a:rPr lang="de-DE" sz="1200" b="1" dirty="0">
                <a:solidFill>
                  <a:srgbClr val="1034A6"/>
                </a:solidFill>
              </a:rPr>
              <a:t> Elena </a:t>
            </a:r>
            <a:r>
              <a:rPr lang="de-DE" sz="1200" b="1" dirty="0" err="1">
                <a:solidFill>
                  <a:srgbClr val="1034A6"/>
                </a:solidFill>
              </a:rPr>
              <a:t>Wowchik</a:t>
            </a:r>
            <a:endParaRPr lang="de-DE" sz="1200" b="1" dirty="0">
              <a:solidFill>
                <a:srgbClr val="1034A6"/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FA045E1-4AC3-4F77-E85A-AB9FCFD52A77}"/>
              </a:ext>
            </a:extLst>
          </p:cNvPr>
          <p:cNvSpPr txBox="1">
            <a:spLocks/>
          </p:cNvSpPr>
          <p:nvPr/>
        </p:nvSpPr>
        <p:spPr>
          <a:xfrm>
            <a:off x="110534" y="1524244"/>
            <a:ext cx="2138837" cy="23674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Datum/Zeit/Kurs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ETL/AWS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Power BI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de-DE" sz="1400" dirty="0">
              <a:solidFill>
                <a:schemeClr val="bg1"/>
              </a:solidFill>
            </a:endParaRP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BF9B38FA-2ABB-48BC-9A75-5D8F722170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6178" b="26784"/>
          <a:stretch>
            <a:fillRect/>
          </a:stretch>
        </p:blipFill>
        <p:spPr>
          <a:xfrm>
            <a:off x="2522557" y="2832578"/>
            <a:ext cx="9611798" cy="2371939"/>
          </a:xfrm>
          <a:prstGeom prst="rect">
            <a:avLst/>
          </a:prstGeo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FE99B06-3E7A-93A6-DDBE-0E45F4E44D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977599" cy="365125"/>
          </a:xfrm>
        </p:spPr>
        <p:txBody>
          <a:bodyPr/>
          <a:lstStyle/>
          <a:p>
            <a:fld id="{4757B6D5-AC2B-414C-B9F5-8247A171F44F}" type="datetime1">
              <a:rPr lang="de-DE" smtClean="0">
                <a:solidFill>
                  <a:schemeClr val="bg1"/>
                </a:solidFill>
              </a:rPr>
              <a:t>15.03.2026</a:t>
            </a:fld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EFF84B54-57B0-3CB7-3790-CF11C5D46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3EF5A-7514-4853-9EFC-86B13A32C4C2}" type="slidenum">
              <a:rPr lang="de-DE" smtClean="0"/>
              <a:t>1</a:t>
            </a:fld>
            <a:endParaRPr lang="de-DE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96220923-7740-7E76-4323-F1001FDB1692}"/>
              </a:ext>
            </a:extLst>
          </p:cNvPr>
          <p:cNvSpPr txBox="1"/>
          <p:nvPr/>
        </p:nvSpPr>
        <p:spPr>
          <a:xfrm>
            <a:off x="3092093" y="0"/>
            <a:ext cx="8193269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5400" dirty="0"/>
              <a:t>Cloudbasierte Zeiterfassung </a:t>
            </a:r>
          </a:p>
          <a:p>
            <a:r>
              <a:rPr lang="de-DE" sz="5400" dirty="0"/>
              <a:t>mit ETL-Datenpipeline und</a:t>
            </a:r>
          </a:p>
          <a:p>
            <a:r>
              <a:rPr lang="de-DE" sz="5400" dirty="0"/>
              <a:t> Power-BI-Dashboard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7C37522A-17CF-A8E5-4D36-6F663CB38205}"/>
              </a:ext>
            </a:extLst>
          </p:cNvPr>
          <p:cNvSpPr txBox="1"/>
          <p:nvPr/>
        </p:nvSpPr>
        <p:spPr>
          <a:xfrm>
            <a:off x="3092093" y="5451772"/>
            <a:ext cx="802750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Dipl. Ing. Elena </a:t>
            </a:r>
            <a:r>
              <a:rPr lang="de-DE" dirty="0" err="1"/>
              <a:t>Wowchik</a:t>
            </a:r>
            <a:endParaRPr lang="de-DE" dirty="0"/>
          </a:p>
          <a:p>
            <a:r>
              <a:rPr lang="de-DE" dirty="0"/>
              <a:t>GitHub: </a:t>
            </a:r>
            <a:r>
              <a:rPr lang="de-DE" dirty="0">
                <a:hlinkClick r:id="rId4"/>
              </a:rPr>
              <a:t>github.com/Elena-Wowchik/Projekt_Zeiterfassung</a:t>
            </a:r>
            <a:endParaRPr lang="de-DE" dirty="0"/>
          </a:p>
          <a:p>
            <a:r>
              <a:rPr lang="de-DE" dirty="0"/>
              <a:t>LinkedIn: </a:t>
            </a:r>
            <a:r>
              <a:rPr lang="de-DE" dirty="0">
                <a:hlinkClick r:id="rId5"/>
              </a:rPr>
              <a:t>linkedin.com/in/Elena-</a:t>
            </a:r>
            <a:r>
              <a:rPr lang="de-DE" dirty="0" err="1">
                <a:hlinkClick r:id="rId5"/>
              </a:rPr>
              <a:t>Wowchik</a:t>
            </a:r>
            <a:endParaRPr lang="de-DE" dirty="0"/>
          </a:p>
          <a:p>
            <a:r>
              <a:rPr lang="de-DE" dirty="0"/>
              <a:t>E-Mail:  elena.wowchik@gmx.de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13306116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3C2FB">
            <a:alpha val="5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C5063D-BEAA-D2E2-01E7-F6AE36093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F9B43F95-7327-955F-5724-64E37E674EA3}"/>
              </a:ext>
            </a:extLst>
          </p:cNvPr>
          <p:cNvSpPr/>
          <p:nvPr/>
        </p:nvSpPr>
        <p:spPr>
          <a:xfrm>
            <a:off x="0" y="0"/>
            <a:ext cx="2359907" cy="6854699"/>
          </a:xfrm>
          <a:prstGeom prst="rect">
            <a:avLst/>
          </a:prstGeom>
          <a:solidFill>
            <a:srgbClr val="007FFF"/>
          </a:solidFill>
          <a:ln>
            <a:solidFill>
              <a:srgbClr val="7F432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32E6EB2B-CF4A-E5C5-3BC4-54459A509B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70" y="88712"/>
            <a:ext cx="671887" cy="492442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2C55A41F-D987-A233-55F3-4A0D0DC1CAB9}"/>
              </a:ext>
            </a:extLst>
          </p:cNvPr>
          <p:cNvSpPr txBox="1"/>
          <p:nvPr/>
        </p:nvSpPr>
        <p:spPr>
          <a:xfrm>
            <a:off x="781537" y="88712"/>
            <a:ext cx="1529019" cy="492443"/>
          </a:xfrm>
          <a:prstGeom prst="rect">
            <a:avLst/>
          </a:prstGeom>
          <a:solidFill>
            <a:schemeClr val="bg1"/>
          </a:solidFill>
          <a:ln>
            <a:solidFill>
              <a:srgbClr val="007F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>
                <a:solidFill>
                  <a:srgbClr val="1034A6"/>
                </a:solidFill>
              </a:rPr>
              <a:t>Zeiterfassung</a:t>
            </a:r>
          </a:p>
          <a:p>
            <a:pPr algn="ctr"/>
            <a:r>
              <a:rPr lang="de-DE" sz="1200" b="1" dirty="0">
                <a:solidFill>
                  <a:srgbClr val="1034A6"/>
                </a:solidFill>
              </a:rPr>
              <a:t> Elena </a:t>
            </a:r>
            <a:r>
              <a:rPr lang="de-DE" sz="1200" b="1" dirty="0" err="1">
                <a:solidFill>
                  <a:srgbClr val="1034A6"/>
                </a:solidFill>
              </a:rPr>
              <a:t>Wowchik</a:t>
            </a:r>
            <a:endParaRPr lang="de-DE" sz="1200" b="1" dirty="0">
              <a:solidFill>
                <a:srgbClr val="1034A6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02ADB94-CD96-EEF3-E5CF-9CEEEA5B5FD2}"/>
              </a:ext>
            </a:extLst>
          </p:cNvPr>
          <p:cNvSpPr txBox="1">
            <a:spLocks/>
          </p:cNvSpPr>
          <p:nvPr/>
        </p:nvSpPr>
        <p:spPr>
          <a:xfrm>
            <a:off x="2705635" y="120453"/>
            <a:ext cx="8608928" cy="104696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5400" dirty="0"/>
              <a:t>Ziel des Projekts</a:t>
            </a:r>
            <a:endParaRPr lang="de-DE" sz="5400" i="1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6FFB2EE-6849-2B14-D502-BDBE6C7694D4}"/>
              </a:ext>
            </a:extLst>
          </p:cNvPr>
          <p:cNvSpPr txBox="1">
            <a:spLocks/>
          </p:cNvSpPr>
          <p:nvPr/>
        </p:nvSpPr>
        <p:spPr>
          <a:xfrm>
            <a:off x="70963" y="1442190"/>
            <a:ext cx="2138837" cy="23674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Projekt zur Analyse meiner Lernzeiten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Ziel: Lernzeiten sammeln,  übertragen datenbasiert auswerten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Technologien:</a:t>
            </a:r>
            <a:br>
              <a:rPr lang="de-DE" sz="1400" dirty="0">
                <a:solidFill>
                  <a:schemeClr val="bg1"/>
                </a:solidFill>
              </a:rPr>
            </a:br>
            <a:endParaRPr lang="de-DE" sz="1400" dirty="0">
              <a:solidFill>
                <a:schemeClr val="bg1"/>
              </a:solidFill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FE58E905-2666-C158-B2C0-57CDAD742946}"/>
              </a:ext>
            </a:extLst>
          </p:cNvPr>
          <p:cNvSpPr txBox="1"/>
          <p:nvPr/>
        </p:nvSpPr>
        <p:spPr>
          <a:xfrm>
            <a:off x="2705635" y="1442190"/>
            <a:ext cx="8648165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Dieses Projekt demonstriert den Aufbau einer End-</a:t>
            </a:r>
            <a:r>
              <a:rPr lang="de-DE" dirty="0" err="1"/>
              <a:t>to</a:t>
            </a:r>
            <a:r>
              <a:rPr lang="de-DE" dirty="0"/>
              <a:t>-End-Datenpipeline zur Analyse von Lernzeiten.</a:t>
            </a:r>
            <a:br>
              <a:rPr lang="de-DE" dirty="0"/>
            </a:br>
            <a:r>
              <a:rPr lang="de-DE" dirty="0"/>
              <a:t>Ziel war es, Daten automatisch zu erfassen, in einer Cloud-Architektur zu speichern und über ein BI-Dashboard auszuwerten.</a:t>
            </a:r>
          </a:p>
          <a:p>
            <a:endParaRPr lang="de-DE" dirty="0"/>
          </a:p>
          <a:p>
            <a:r>
              <a:rPr lang="de-DE" b="1" dirty="0"/>
              <a:t>Technologien: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>
                <a:sym typeface="Wingdings" panose="05000000000000000000" pitchFamily="2" charset="2"/>
              </a:rPr>
              <a:t>Python/</a:t>
            </a:r>
            <a:r>
              <a:rPr lang="de-DE" dirty="0" err="1">
                <a:sym typeface="Wingdings" panose="05000000000000000000" pitchFamily="2" charset="2"/>
              </a:rPr>
              <a:t>Streamlit</a:t>
            </a:r>
            <a:endParaRPr lang="de-DE" dirty="0">
              <a:sym typeface="Wingdings" panose="05000000000000000000" pitchFamily="2" charset="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/>
              <a:t>AWS S3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/>
              <a:t>AWS </a:t>
            </a:r>
            <a:r>
              <a:rPr lang="de-DE" dirty="0" err="1"/>
              <a:t>Glue</a:t>
            </a:r>
            <a:endParaRPr lang="de-DE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/>
              <a:t>AWS Athena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/>
              <a:t>Power BI</a:t>
            </a:r>
          </a:p>
          <a:p>
            <a:pPr lvl="1"/>
            <a:endParaRPr lang="de-DE" dirty="0"/>
          </a:p>
          <a:p>
            <a:r>
              <a:rPr lang="de-DE" dirty="0"/>
              <a:t>Das Motto meines Projekts lautet: </a:t>
            </a:r>
            <a:r>
              <a:rPr lang="de-DE" i="1" dirty="0"/>
              <a:t>Der Weg ist das Ziel.</a:t>
            </a:r>
            <a:br>
              <a:rPr lang="de-DE" dirty="0"/>
            </a:br>
            <a:r>
              <a:rPr lang="de-DE" dirty="0"/>
              <a:t>Mir ging es nicht nur um das End-Dashboard, sondern darum, eine komplette Datenpipeline (ETL) aufzubauen – von der ersten Eingabe von Datum und Zeit bis zur professionellen Auswertung in Power BI.</a:t>
            </a:r>
          </a:p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D026DF5-4230-A474-A361-A2271953D09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62700"/>
            <a:ext cx="2743200" cy="365125"/>
          </a:xfrm>
        </p:spPr>
        <p:txBody>
          <a:bodyPr/>
          <a:lstStyle/>
          <a:p>
            <a:fld id="{14542261-7FFA-4BB7-AA1F-897F5DCF1718}" type="datetime1">
              <a:rPr lang="de-DE" smtClean="0">
                <a:solidFill>
                  <a:schemeClr val="bg1"/>
                </a:solidFill>
              </a:rPr>
              <a:t>15.03.2026</a:t>
            </a:fld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FE62EBFC-321E-2269-A1A4-C01E3A502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3EF5A-7514-4853-9EFC-86B13A32C4C2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677812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3C2FB">
            <a:alpha val="5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90D979-B1A3-FAA8-0F23-942B49E6E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D603274C-DB6A-5072-3AED-F3EF334D9106}"/>
              </a:ext>
            </a:extLst>
          </p:cNvPr>
          <p:cNvSpPr/>
          <p:nvPr/>
        </p:nvSpPr>
        <p:spPr>
          <a:xfrm>
            <a:off x="0" y="0"/>
            <a:ext cx="2359907" cy="6854699"/>
          </a:xfrm>
          <a:prstGeom prst="rect">
            <a:avLst/>
          </a:prstGeom>
          <a:solidFill>
            <a:srgbClr val="007FFF"/>
          </a:solidFill>
          <a:ln>
            <a:solidFill>
              <a:srgbClr val="7F432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4B5EA21E-5BE6-17A5-3A51-2D0C5A09BF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70" y="88712"/>
            <a:ext cx="671887" cy="492442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B1F44A3D-1CCE-E12D-E77D-097FE0E10374}"/>
              </a:ext>
            </a:extLst>
          </p:cNvPr>
          <p:cNvSpPr txBox="1"/>
          <p:nvPr/>
        </p:nvSpPr>
        <p:spPr>
          <a:xfrm>
            <a:off x="781537" y="88712"/>
            <a:ext cx="1529019" cy="492443"/>
          </a:xfrm>
          <a:prstGeom prst="rect">
            <a:avLst/>
          </a:prstGeom>
          <a:solidFill>
            <a:schemeClr val="bg1"/>
          </a:solidFill>
          <a:ln>
            <a:solidFill>
              <a:srgbClr val="007F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>
                <a:solidFill>
                  <a:srgbClr val="1034A6"/>
                </a:solidFill>
              </a:rPr>
              <a:t>Zeiterfassung</a:t>
            </a:r>
          </a:p>
          <a:p>
            <a:pPr algn="ctr"/>
            <a:r>
              <a:rPr lang="de-DE" sz="1200" b="1" dirty="0">
                <a:solidFill>
                  <a:srgbClr val="1034A6"/>
                </a:solidFill>
              </a:rPr>
              <a:t> Elena </a:t>
            </a:r>
            <a:r>
              <a:rPr lang="de-DE" sz="1200" b="1" dirty="0" err="1">
                <a:solidFill>
                  <a:srgbClr val="1034A6"/>
                </a:solidFill>
              </a:rPr>
              <a:t>Wowchik</a:t>
            </a:r>
            <a:endParaRPr lang="de-DE" sz="1200" b="1" dirty="0">
              <a:solidFill>
                <a:srgbClr val="1034A6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E791D9E-782F-43DA-DB8D-2D33FDC2FE97}"/>
              </a:ext>
            </a:extLst>
          </p:cNvPr>
          <p:cNvSpPr txBox="1">
            <a:spLocks/>
          </p:cNvSpPr>
          <p:nvPr/>
        </p:nvSpPr>
        <p:spPr>
          <a:xfrm>
            <a:off x="2883937" y="229210"/>
            <a:ext cx="8229600" cy="70388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5400" dirty="0"/>
              <a:t>Business Problem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B9B6D83-41F9-4A58-6C2C-31662DF71EA8}"/>
              </a:ext>
            </a:extLst>
          </p:cNvPr>
          <p:cNvSpPr txBox="1">
            <a:spLocks/>
          </p:cNvSpPr>
          <p:nvPr/>
        </p:nvSpPr>
        <p:spPr>
          <a:xfrm>
            <a:off x="70963" y="1221377"/>
            <a:ext cx="2138837" cy="23674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Mehrere Excel-Sheets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Unterschiedliche Formate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Keine klare Auswertung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69AA34D5-A303-387A-2228-D6CC562E13C6}"/>
              </a:ext>
            </a:extLst>
          </p:cNvPr>
          <p:cNvSpPr txBox="1"/>
          <p:nvPr/>
        </p:nvSpPr>
        <p:spPr>
          <a:xfrm>
            <a:off x="2940423" y="1221377"/>
            <a:ext cx="86843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Lernzeiten wurden ursprünglich in mehreren Excel-Tabellen erfasst.</a:t>
            </a:r>
            <a:br>
              <a:rPr lang="de-DE" dirty="0"/>
            </a:br>
            <a:r>
              <a:rPr lang="de-DE" dirty="0"/>
              <a:t>Die Daten waren uneinheitlich strukturiert und eine systematische Analyse war kaum möglich.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8866C72D-01F6-79B9-5B30-6BE6021E98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0423" y="2582669"/>
            <a:ext cx="2463616" cy="3773681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594FE1AF-E2A2-EA5F-B7FD-4F5F589A77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7623" y="2582669"/>
            <a:ext cx="3598312" cy="3817968"/>
          </a:xfrm>
          <a:prstGeom prst="rect">
            <a:avLst/>
          </a:prstGeo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5D0B04D-799C-C8CC-5D67-C05BF7202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DACB3-B05B-45B2-AD4E-BB05126C7519}" type="datetime1">
              <a:rPr lang="de-DE" smtClean="0">
                <a:solidFill>
                  <a:schemeClr val="bg1"/>
                </a:solidFill>
              </a:rPr>
              <a:t>15.03.2026</a:t>
            </a:fld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683E4ED7-0757-533E-D504-601EC550F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3EF5A-7514-4853-9EFC-86B13A32C4C2}" type="slidenum">
              <a:rPr lang="de-DE" smtClean="0"/>
              <a:t>3</a:t>
            </a:fld>
            <a:endParaRPr lang="de-DE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9691ACC6-6E63-E371-6C64-CB264A6A3E50}"/>
              </a:ext>
            </a:extLst>
          </p:cNvPr>
          <p:cNvSpPr txBox="1"/>
          <p:nvPr/>
        </p:nvSpPr>
        <p:spPr>
          <a:xfrm>
            <a:off x="9712930" y="2520272"/>
            <a:ext cx="1911875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/>
              <a:t>Probleme:</a:t>
            </a:r>
          </a:p>
          <a:p>
            <a:endParaRPr lang="de-DE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 dirty="0"/>
              <a:t>mehrere Excel-Dateien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 dirty="0"/>
              <a:t>unterschiedliche Formate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 dirty="0"/>
              <a:t>keine automatisierte Analyse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 dirty="0"/>
              <a:t>keine Zeitmuster erkennbar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934366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3C2FB">
            <a:alpha val="5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1728C8-8E6A-80C3-9320-D15EBE81C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023DACD0-BD13-C4EB-0455-C49CEEE440D7}"/>
              </a:ext>
            </a:extLst>
          </p:cNvPr>
          <p:cNvSpPr/>
          <p:nvPr/>
        </p:nvSpPr>
        <p:spPr>
          <a:xfrm>
            <a:off x="0" y="3301"/>
            <a:ext cx="2359907" cy="6854699"/>
          </a:xfrm>
          <a:prstGeom prst="rect">
            <a:avLst/>
          </a:prstGeom>
          <a:solidFill>
            <a:srgbClr val="007FFF"/>
          </a:solidFill>
          <a:ln>
            <a:solidFill>
              <a:srgbClr val="7F432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1B4F7FD9-8AA9-BBAA-5277-BEF82A2523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70" y="88712"/>
            <a:ext cx="671887" cy="492442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01C048C8-A451-E7E2-7300-ED18A0CEC3FB}"/>
              </a:ext>
            </a:extLst>
          </p:cNvPr>
          <p:cNvSpPr txBox="1"/>
          <p:nvPr/>
        </p:nvSpPr>
        <p:spPr>
          <a:xfrm>
            <a:off x="781537" y="88712"/>
            <a:ext cx="1529019" cy="492443"/>
          </a:xfrm>
          <a:prstGeom prst="rect">
            <a:avLst/>
          </a:prstGeom>
          <a:solidFill>
            <a:schemeClr val="bg1"/>
          </a:solidFill>
          <a:ln>
            <a:solidFill>
              <a:srgbClr val="007F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>
                <a:solidFill>
                  <a:srgbClr val="1034A6"/>
                </a:solidFill>
              </a:rPr>
              <a:t>Zeiterfassung</a:t>
            </a:r>
          </a:p>
          <a:p>
            <a:pPr algn="ctr"/>
            <a:r>
              <a:rPr lang="de-DE" sz="1200" b="1" dirty="0">
                <a:solidFill>
                  <a:srgbClr val="1034A6"/>
                </a:solidFill>
              </a:rPr>
              <a:t> Elena </a:t>
            </a:r>
            <a:r>
              <a:rPr lang="de-DE" sz="1200" b="1" dirty="0" err="1">
                <a:solidFill>
                  <a:srgbClr val="1034A6"/>
                </a:solidFill>
              </a:rPr>
              <a:t>Wowchik</a:t>
            </a:r>
            <a:endParaRPr lang="de-DE" sz="1200" b="1" dirty="0">
              <a:solidFill>
                <a:srgbClr val="1034A6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24C74E8-1B2F-ACED-309D-29E79FEB2139}"/>
              </a:ext>
            </a:extLst>
          </p:cNvPr>
          <p:cNvSpPr txBox="1">
            <a:spLocks/>
          </p:cNvSpPr>
          <p:nvPr/>
        </p:nvSpPr>
        <p:spPr>
          <a:xfrm>
            <a:off x="3092093" y="88712"/>
            <a:ext cx="8229600" cy="90334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5400" dirty="0"/>
              <a:t>Lösungsarchitektur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325F49B-A744-562B-0AF7-9E71392A7BBC}"/>
              </a:ext>
            </a:extLst>
          </p:cNvPr>
          <p:cNvSpPr txBox="1">
            <a:spLocks/>
          </p:cNvSpPr>
          <p:nvPr/>
        </p:nvSpPr>
        <p:spPr>
          <a:xfrm>
            <a:off x="171719" y="1096940"/>
            <a:ext cx="2138837" cy="23674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Streamlit → CSV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AWS S3 → Data Lake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Glue &amp; Athena → Struktur &amp; Abfragen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Power BI → Dashboard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A8C7D164-B013-9223-3987-1CD8CB6A3D92}"/>
              </a:ext>
            </a:extLst>
          </p:cNvPr>
          <p:cNvSpPr txBox="1"/>
          <p:nvPr/>
        </p:nvSpPr>
        <p:spPr>
          <a:xfrm>
            <a:off x="3206029" y="1042715"/>
            <a:ext cx="789377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/>
              <a:t>Architektur-Design-Prinzipien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Trennung von Storage und PC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Serverlose Architektur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Automatische Schema-Erkennung über </a:t>
            </a:r>
            <a:r>
              <a:rPr lang="de-DE" dirty="0" err="1"/>
              <a:t>Glue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SQL-basierte Analyseebene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BI-Visualisierung als Reporting-Layer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E209D99B-F0EC-FC67-E385-FA36734211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804"/>
          <a:stretch>
            <a:fillRect/>
          </a:stretch>
        </p:blipFill>
        <p:spPr>
          <a:xfrm>
            <a:off x="3092093" y="3074999"/>
            <a:ext cx="5548401" cy="3003393"/>
          </a:xfrm>
          <a:prstGeom prst="rect">
            <a:avLst/>
          </a:prstGeo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B8D7ACA-C310-49F8-8182-CDC2866A9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BE982-F072-4477-895A-D7C8435FFFCC}" type="datetime1">
              <a:rPr lang="de-DE" smtClean="0">
                <a:solidFill>
                  <a:schemeClr val="bg1"/>
                </a:solidFill>
              </a:rPr>
              <a:t>15.03.2026</a:t>
            </a:fld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E189379C-DC34-458F-5B28-91B277291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3EF5A-7514-4853-9EFC-86B13A32C4C2}" type="slidenum">
              <a:rPr lang="de-DE" smtClean="0"/>
              <a:t>4</a:t>
            </a:fld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D19F504C-9C04-7332-F22F-BA7517828EAD}"/>
              </a:ext>
            </a:extLst>
          </p:cNvPr>
          <p:cNvSpPr txBox="1"/>
          <p:nvPr/>
        </p:nvSpPr>
        <p:spPr>
          <a:xfrm>
            <a:off x="8852022" y="3000277"/>
            <a:ext cx="2404185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   </a:t>
            </a:r>
            <a:r>
              <a:rPr lang="de-DE" sz="1000" dirty="0"/>
              <a:t>Probleme: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 dirty="0"/>
              <a:t>IAM-Berechtigung Management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 dirty="0"/>
              <a:t>Zusammenspiel der einzelnen AWS-Komponenten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 dirty="0"/>
              <a:t>Power BI konnte nicht direkt auf Athena zugreifen.</a:t>
            </a:r>
            <a:br>
              <a:rPr lang="de-DE" sz="1000" dirty="0"/>
            </a:br>
            <a:r>
              <a:rPr lang="de-DE" sz="1000" dirty="0"/>
              <a:t>Ich musste zuerst einen ODBC-Treiber installieren – in meinem Fall den Simba Athena ODBC Driver.</a:t>
            </a:r>
            <a:br>
              <a:rPr lang="de-DE" sz="1000" dirty="0"/>
            </a:br>
            <a:r>
              <a:rPr lang="de-DE" sz="1000" dirty="0"/>
              <a:t>Dieser Treiber funktioniert wie eine Schnittstelle zwischen Power BI und AWS.</a:t>
            </a:r>
            <a:br>
              <a:rPr lang="de-DE" sz="1000" dirty="0"/>
            </a:br>
            <a:r>
              <a:rPr lang="de-DE" sz="1000" dirty="0"/>
              <a:t>Erst danach konnte ich eine Verbindung herstellen und SQL-Abfragen ausführen.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EA499A62-77AC-4DF2-C5AC-AE51DF0686F8}"/>
              </a:ext>
            </a:extLst>
          </p:cNvPr>
          <p:cNvSpPr/>
          <p:nvPr/>
        </p:nvSpPr>
        <p:spPr>
          <a:xfrm>
            <a:off x="3581400" y="5524045"/>
            <a:ext cx="4385807" cy="164988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75000"/>
                  <a:lumOff val="2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5">
                  <a:lumMod val="50000"/>
                </a:schemeClr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53589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3C2FB">
            <a:alpha val="5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D68E69-15AB-58E5-5F06-9D83E0D3D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9C40E967-B60D-0511-4C20-CCFE69D24B8F}"/>
              </a:ext>
            </a:extLst>
          </p:cNvPr>
          <p:cNvSpPr/>
          <p:nvPr/>
        </p:nvSpPr>
        <p:spPr>
          <a:xfrm>
            <a:off x="0" y="0"/>
            <a:ext cx="2359907" cy="6854699"/>
          </a:xfrm>
          <a:prstGeom prst="rect">
            <a:avLst/>
          </a:prstGeom>
          <a:solidFill>
            <a:srgbClr val="007FFF"/>
          </a:solidFill>
          <a:ln>
            <a:solidFill>
              <a:srgbClr val="7F432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23819BFF-3B0B-1267-0A41-37B0C10AB3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70" y="88712"/>
            <a:ext cx="671887" cy="492442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F92156D5-7D21-00EA-D8DB-A893A8F15327}"/>
              </a:ext>
            </a:extLst>
          </p:cNvPr>
          <p:cNvSpPr txBox="1"/>
          <p:nvPr/>
        </p:nvSpPr>
        <p:spPr>
          <a:xfrm>
            <a:off x="781537" y="88712"/>
            <a:ext cx="1529019" cy="492443"/>
          </a:xfrm>
          <a:prstGeom prst="rect">
            <a:avLst/>
          </a:prstGeom>
          <a:solidFill>
            <a:schemeClr val="bg1"/>
          </a:solidFill>
          <a:ln>
            <a:solidFill>
              <a:srgbClr val="007F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>
                <a:solidFill>
                  <a:srgbClr val="1034A6"/>
                </a:solidFill>
              </a:rPr>
              <a:t>Zeiterfassung</a:t>
            </a:r>
          </a:p>
          <a:p>
            <a:pPr algn="ctr"/>
            <a:r>
              <a:rPr lang="de-DE" sz="1200" b="1" dirty="0">
                <a:solidFill>
                  <a:srgbClr val="1034A6"/>
                </a:solidFill>
              </a:rPr>
              <a:t> Elena </a:t>
            </a:r>
            <a:r>
              <a:rPr lang="de-DE" sz="1200" b="1" dirty="0" err="1">
                <a:solidFill>
                  <a:srgbClr val="1034A6"/>
                </a:solidFill>
              </a:rPr>
              <a:t>Wowchik</a:t>
            </a:r>
            <a:endParaRPr lang="de-DE" sz="1200" b="1" dirty="0">
              <a:solidFill>
                <a:srgbClr val="1034A6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FC7EEB0-014C-5C9F-921B-CEBBEF536363}"/>
              </a:ext>
            </a:extLst>
          </p:cNvPr>
          <p:cNvSpPr txBox="1">
            <a:spLocks/>
          </p:cNvSpPr>
          <p:nvPr/>
        </p:nvSpPr>
        <p:spPr>
          <a:xfrm>
            <a:off x="3092093" y="88712"/>
            <a:ext cx="8229600" cy="103031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5400" dirty="0"/>
              <a:t>Data Collection Layer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2824EAF-BA62-CA03-BC78-DCCD96022AA7}"/>
              </a:ext>
            </a:extLst>
          </p:cNvPr>
          <p:cNvSpPr txBox="1">
            <a:spLocks/>
          </p:cNvSpPr>
          <p:nvPr/>
        </p:nvSpPr>
        <p:spPr>
          <a:xfrm>
            <a:off x="186598" y="1400144"/>
            <a:ext cx="2138837" cy="23674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Benutzeroberfläche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Automatische Stundenberechnung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Einheitliches Format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C770E457-CBE5-C278-4095-07CB3E844510}"/>
              </a:ext>
            </a:extLst>
          </p:cNvPr>
          <p:cNvSpPr txBox="1"/>
          <p:nvPr/>
        </p:nvSpPr>
        <p:spPr>
          <a:xfrm>
            <a:off x="2653068" y="1106180"/>
            <a:ext cx="902800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Eine </a:t>
            </a:r>
            <a:r>
              <a:rPr lang="de-DE" dirty="0" err="1"/>
              <a:t>Streamlit</a:t>
            </a:r>
            <a:r>
              <a:rPr lang="de-DE" dirty="0"/>
              <a:t>-App ermöglicht die strukturierte Eingabe von Lernzeiten.</a:t>
            </a:r>
            <a:br>
              <a:rPr lang="de-DE" dirty="0"/>
            </a:br>
            <a:r>
              <a:rPr lang="de-DE" dirty="0"/>
              <a:t>Datum, Startzeit und Endzeit werden erfasst und automatisch in eine CSV-Datei geschrieben.</a:t>
            </a:r>
          </a:p>
          <a:p>
            <a:r>
              <a:rPr lang="de-DE" dirty="0"/>
              <a:t>Features: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automatische Stundenberechnung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einheitliches Datenformat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direkte Speicherung in AWS S3</a:t>
            </a: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6F2C69BA-533D-A3B8-C7F3-65B3F0765C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70" y="2813112"/>
            <a:ext cx="2124744" cy="1104660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78E4C443-5B06-4B51-F85E-2795587982A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14426"/>
          <a:stretch>
            <a:fillRect/>
          </a:stretch>
        </p:blipFill>
        <p:spPr>
          <a:xfrm>
            <a:off x="9109122" y="2976956"/>
            <a:ext cx="2662417" cy="3379394"/>
          </a:xfrm>
          <a:prstGeom prst="rect">
            <a:avLst/>
          </a:prstGeom>
        </p:spPr>
      </p:pic>
      <p:sp>
        <p:nvSpPr>
          <p:cNvPr id="13" name="Datumsplatzhalter 12">
            <a:extLst>
              <a:ext uri="{FF2B5EF4-FFF2-40B4-BE49-F238E27FC236}">
                <a16:creationId xmlns:a16="http://schemas.microsoft.com/office/drawing/2014/main" id="{430C07CD-2D95-E59C-E131-A78AA44D7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55005-BF0F-49E0-AFD2-47796BB70C82}" type="datetime1">
              <a:rPr lang="de-DE" smtClean="0">
                <a:solidFill>
                  <a:schemeClr val="bg1"/>
                </a:solidFill>
              </a:rPr>
              <a:t>15.03.2026</a:t>
            </a:fld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16" name="Foliennummernplatzhalter 15">
            <a:extLst>
              <a:ext uri="{FF2B5EF4-FFF2-40B4-BE49-F238E27FC236}">
                <a16:creationId xmlns:a16="http://schemas.microsoft.com/office/drawing/2014/main" id="{4EACB487-1807-CDB5-3333-FC6F570E7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3EF5A-7514-4853-9EFC-86B13A32C4C2}" type="slidenum">
              <a:rPr lang="de-DE" smtClean="0"/>
              <a:t>5</a:t>
            </a:fld>
            <a:endParaRPr lang="de-DE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1F85A294-6352-275E-674D-0D89C83968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87540" y="3032966"/>
            <a:ext cx="6093949" cy="3323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1484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3C2FB">
            <a:alpha val="5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C738BC-F133-05C5-9612-4EC1E0312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C32A8FA2-E1CE-252F-8CC2-31B949AD65CD}"/>
              </a:ext>
            </a:extLst>
          </p:cNvPr>
          <p:cNvSpPr/>
          <p:nvPr/>
        </p:nvSpPr>
        <p:spPr>
          <a:xfrm>
            <a:off x="0" y="0"/>
            <a:ext cx="2359907" cy="6854699"/>
          </a:xfrm>
          <a:prstGeom prst="rect">
            <a:avLst/>
          </a:prstGeom>
          <a:solidFill>
            <a:srgbClr val="007FFF"/>
          </a:solidFill>
          <a:ln>
            <a:solidFill>
              <a:srgbClr val="7F432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E7DB76C1-6958-641A-B106-EBB9C799AC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70" y="88712"/>
            <a:ext cx="671887" cy="492442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73FED754-A7D1-5F72-C584-EAF9482F0499}"/>
              </a:ext>
            </a:extLst>
          </p:cNvPr>
          <p:cNvSpPr txBox="1"/>
          <p:nvPr/>
        </p:nvSpPr>
        <p:spPr>
          <a:xfrm>
            <a:off x="781537" y="88712"/>
            <a:ext cx="1529019" cy="492443"/>
          </a:xfrm>
          <a:prstGeom prst="rect">
            <a:avLst/>
          </a:prstGeom>
          <a:solidFill>
            <a:schemeClr val="bg1"/>
          </a:solidFill>
          <a:ln>
            <a:solidFill>
              <a:srgbClr val="007F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>
                <a:solidFill>
                  <a:srgbClr val="1034A6"/>
                </a:solidFill>
              </a:rPr>
              <a:t>Zeiterfassung</a:t>
            </a:r>
          </a:p>
          <a:p>
            <a:pPr algn="ctr"/>
            <a:r>
              <a:rPr lang="de-DE" sz="1200" b="1" dirty="0">
                <a:solidFill>
                  <a:srgbClr val="1034A6"/>
                </a:solidFill>
              </a:rPr>
              <a:t> Elena </a:t>
            </a:r>
            <a:r>
              <a:rPr lang="de-DE" sz="1200" b="1" dirty="0" err="1">
                <a:solidFill>
                  <a:srgbClr val="1034A6"/>
                </a:solidFill>
              </a:rPr>
              <a:t>Wowchik</a:t>
            </a:r>
            <a:endParaRPr lang="de-DE" sz="1200" b="1" dirty="0">
              <a:solidFill>
                <a:srgbClr val="1034A6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90B7876-AE8E-FE3D-B458-AAB0BB4427CA}"/>
              </a:ext>
            </a:extLst>
          </p:cNvPr>
          <p:cNvSpPr txBox="1">
            <a:spLocks/>
          </p:cNvSpPr>
          <p:nvPr/>
        </p:nvSpPr>
        <p:spPr>
          <a:xfrm>
            <a:off x="3092093" y="16926"/>
            <a:ext cx="8229600" cy="95427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5400" dirty="0"/>
              <a:t>Cloud Data Pipeline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E009E88-C06F-48A3-7A14-01A610813FE7}"/>
              </a:ext>
            </a:extLst>
          </p:cNvPr>
          <p:cNvSpPr txBox="1">
            <a:spLocks/>
          </p:cNvSpPr>
          <p:nvPr/>
        </p:nvSpPr>
        <p:spPr>
          <a:xfrm>
            <a:off x="110534" y="1438843"/>
            <a:ext cx="2138837" cy="23674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AWS S3:  Storage Layer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 err="1">
                <a:solidFill>
                  <a:schemeClr val="bg1"/>
                </a:solidFill>
              </a:rPr>
              <a:t>Glue</a:t>
            </a:r>
            <a:r>
              <a:rPr lang="de-DE" sz="1400" dirty="0">
                <a:solidFill>
                  <a:schemeClr val="bg1"/>
                </a:solidFill>
              </a:rPr>
              <a:t>: Schema &amp; Metadaten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Athena: </a:t>
            </a:r>
            <a:r>
              <a:rPr lang="de-DE" sz="1400" dirty="0" err="1">
                <a:solidFill>
                  <a:schemeClr val="bg1"/>
                </a:solidFill>
              </a:rPr>
              <a:t>Serverless</a:t>
            </a:r>
            <a:r>
              <a:rPr lang="de-DE" sz="1400" dirty="0">
                <a:solidFill>
                  <a:schemeClr val="bg1"/>
                </a:solidFill>
              </a:rPr>
              <a:t> SQL Engine</a:t>
            </a:r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6BE1BD12-CCF2-1926-014F-273B51CFA3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88" y="3171534"/>
            <a:ext cx="2087383" cy="984484"/>
          </a:xfrm>
          <a:prstGeom prst="rect">
            <a:avLst/>
          </a:prstGeom>
        </p:spPr>
      </p:pic>
      <p:sp>
        <p:nvSpPr>
          <p:cNvPr id="23" name="Textfeld 22">
            <a:extLst>
              <a:ext uri="{FF2B5EF4-FFF2-40B4-BE49-F238E27FC236}">
                <a16:creationId xmlns:a16="http://schemas.microsoft.com/office/drawing/2014/main" id="{46D83BC6-105E-938E-D849-D2972320F082}"/>
              </a:ext>
            </a:extLst>
          </p:cNvPr>
          <p:cNvSpPr txBox="1"/>
          <p:nvPr/>
        </p:nvSpPr>
        <p:spPr>
          <a:xfrm>
            <a:off x="2954590" y="1373126"/>
            <a:ext cx="88226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Die Rohdaten werden in AWS S3 gespeichert und über AWS </a:t>
            </a:r>
            <a:r>
              <a:rPr lang="de-DE" dirty="0" err="1"/>
              <a:t>Glue</a:t>
            </a:r>
            <a:r>
              <a:rPr lang="de-DE" dirty="0"/>
              <a:t> automatisch katalogisiert.</a:t>
            </a:r>
            <a:br>
              <a:rPr lang="de-DE" dirty="0"/>
            </a:br>
            <a:r>
              <a:rPr lang="de-DE" dirty="0"/>
              <a:t>AWS Athena ermöglicht SQL-Abfragen direkt auf den CSV-Dateien im Data Lake.</a:t>
            </a:r>
            <a:endParaRPr lang="de-DE" sz="1000" i="1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FB5D22E-408B-04BD-EA60-AF98AF013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C4FEC-F390-4E07-A29F-182ED0C911E3}" type="datetime1">
              <a:rPr lang="de-DE" smtClean="0">
                <a:solidFill>
                  <a:schemeClr val="bg1"/>
                </a:solidFill>
              </a:rPr>
              <a:t>15.03.2026</a:t>
            </a:fld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D5D617AF-8B39-AC43-15AB-6767EF19E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3EF5A-7514-4853-9EFC-86B13A32C4C2}" type="slidenum">
              <a:rPr lang="de-DE" smtClean="0"/>
              <a:t>6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8DBD01BB-6075-5F43-39FC-7174055D0D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4590" y="2343331"/>
            <a:ext cx="3913893" cy="3924552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4AF62DCF-37CD-7C61-9B5D-D712CD73215E}"/>
              </a:ext>
            </a:extLst>
          </p:cNvPr>
          <p:cNvSpPr txBox="1"/>
          <p:nvPr/>
        </p:nvSpPr>
        <p:spPr>
          <a:xfrm>
            <a:off x="7496774" y="2622552"/>
            <a:ext cx="369763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Darf man Athena direkt mit S3 verbinden?</a:t>
            </a:r>
            <a:r>
              <a:rPr lang="de-DE" sz="10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de-DE" sz="10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de-DE" sz="10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Wichtig: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Athena liest Daten aus S3</a:t>
            </a:r>
            <a:endParaRPr lang="de-DE" sz="10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Aber Athena braucht eine Tabellenbeschreibung</a:t>
            </a:r>
            <a:br>
              <a:rPr lang="de-DE" sz="10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de-DE" sz="10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Diese Tabellenbeschreibung kommt aus AWS </a:t>
            </a:r>
            <a:r>
              <a:rPr lang="de-DE" sz="10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Glue</a:t>
            </a:r>
            <a:r>
              <a:rPr lang="de-DE" sz="10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Data Catalog</a:t>
            </a:r>
            <a:br>
              <a:rPr lang="de-DE" sz="10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de-DE" sz="10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de-DE" sz="10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Ohne </a:t>
            </a:r>
            <a:r>
              <a:rPr lang="de-DE" sz="10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Glue</a:t>
            </a:r>
            <a:r>
              <a:rPr lang="de-DE" sz="10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weiß Athena nicht:</a:t>
            </a:r>
          </a:p>
          <a:p>
            <a:pPr marL="171450" indent="-171450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de-DE" sz="10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Welche Spalten existieren?</a:t>
            </a:r>
          </a:p>
          <a:p>
            <a:pPr marL="171450" indent="-171450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de-DE" sz="10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Welcher Datentyp?</a:t>
            </a:r>
          </a:p>
          <a:p>
            <a:pPr marL="171450" indent="-171450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de-DE" sz="10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Welches Trennzeichen?</a:t>
            </a:r>
          </a:p>
          <a:p>
            <a:pPr marL="171450" indent="-171450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de-DE" sz="10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Ist es CSV oder JSON?</a:t>
            </a:r>
            <a:br>
              <a:rPr lang="de-DE" sz="10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de-DE" sz="10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de-DE" sz="10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Warum braucht man </a:t>
            </a:r>
            <a:r>
              <a:rPr lang="de-DE" sz="10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Glue</a:t>
            </a:r>
            <a:r>
              <a:rPr lang="de-DE" sz="10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generell?</a:t>
            </a:r>
          </a:p>
          <a:p>
            <a:r>
              <a:rPr lang="de-DE" sz="10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Glue</a:t>
            </a:r>
            <a:r>
              <a:rPr lang="de-DE" sz="10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wird genutzt für:</a:t>
            </a:r>
          </a:p>
          <a:p>
            <a:pPr marL="171450" indent="-171450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de-DE" sz="10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Schema-Erkennung</a:t>
            </a:r>
          </a:p>
          <a:p>
            <a:pPr marL="171450" indent="-171450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de-DE" sz="10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Metadatenverwaltung</a:t>
            </a:r>
          </a:p>
          <a:p>
            <a:pPr marL="171450" indent="-171450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de-DE" sz="10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Datenaufbereitung (ETL)</a:t>
            </a:r>
          </a:p>
          <a:p>
            <a:pPr marL="171450" indent="-171450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de-DE" sz="10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Strukturierung von Data Lakes</a:t>
            </a:r>
          </a:p>
        </p:txBody>
      </p:sp>
    </p:spTree>
    <p:extLst>
      <p:ext uri="{BB962C8B-B14F-4D97-AF65-F5344CB8AC3E}">
        <p14:creationId xmlns:p14="http://schemas.microsoft.com/office/powerpoint/2010/main" val="42460181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3C2FB">
            <a:alpha val="5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1949BA-DCBD-1C38-D418-673F6BFC7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A2B0250B-502B-0520-B2CD-AC4DB0FE5168}"/>
              </a:ext>
            </a:extLst>
          </p:cNvPr>
          <p:cNvSpPr/>
          <p:nvPr/>
        </p:nvSpPr>
        <p:spPr>
          <a:xfrm>
            <a:off x="0" y="0"/>
            <a:ext cx="2359907" cy="6854699"/>
          </a:xfrm>
          <a:prstGeom prst="rect">
            <a:avLst/>
          </a:prstGeom>
          <a:solidFill>
            <a:srgbClr val="007FFF"/>
          </a:solidFill>
          <a:ln>
            <a:solidFill>
              <a:srgbClr val="7F432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9DF4C678-4F15-8FD1-1E74-9C910A358D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70" y="88712"/>
            <a:ext cx="671887" cy="492442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9029E948-CE38-AB70-FD4E-E998BC261B48}"/>
              </a:ext>
            </a:extLst>
          </p:cNvPr>
          <p:cNvSpPr txBox="1"/>
          <p:nvPr/>
        </p:nvSpPr>
        <p:spPr>
          <a:xfrm>
            <a:off x="781537" y="88712"/>
            <a:ext cx="1529019" cy="492443"/>
          </a:xfrm>
          <a:prstGeom prst="rect">
            <a:avLst/>
          </a:prstGeom>
          <a:solidFill>
            <a:schemeClr val="bg1"/>
          </a:solidFill>
          <a:ln>
            <a:solidFill>
              <a:srgbClr val="007F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>
                <a:solidFill>
                  <a:srgbClr val="1034A6"/>
                </a:solidFill>
              </a:rPr>
              <a:t>Zeiterfassung</a:t>
            </a:r>
          </a:p>
          <a:p>
            <a:pPr algn="ctr"/>
            <a:r>
              <a:rPr lang="de-DE" sz="1200" b="1" dirty="0">
                <a:solidFill>
                  <a:srgbClr val="1034A6"/>
                </a:solidFill>
              </a:rPr>
              <a:t> Elena </a:t>
            </a:r>
            <a:r>
              <a:rPr lang="de-DE" sz="1200" b="1" dirty="0" err="1">
                <a:solidFill>
                  <a:srgbClr val="1034A6"/>
                </a:solidFill>
              </a:rPr>
              <a:t>Wowchik</a:t>
            </a:r>
            <a:endParaRPr lang="de-DE" sz="1200" b="1" dirty="0">
              <a:solidFill>
                <a:srgbClr val="1034A6"/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EBEA3FE-3A08-C7E0-29D4-67071FDDEBA9}"/>
              </a:ext>
            </a:extLst>
          </p:cNvPr>
          <p:cNvSpPr txBox="1">
            <a:spLocks/>
          </p:cNvSpPr>
          <p:nvPr/>
        </p:nvSpPr>
        <p:spPr>
          <a:xfrm>
            <a:off x="110534" y="1524244"/>
            <a:ext cx="2138837" cy="23674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Wingdings" panose="05000000000000000000" pitchFamily="2" charset="2"/>
              <a:buChar char="Ø"/>
            </a:pPr>
            <a:endParaRPr lang="de-DE" sz="1400" dirty="0">
              <a:solidFill>
                <a:schemeClr val="bg1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D3794ED-5650-ED20-34E0-62FF0C098C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55126" y="107345"/>
            <a:ext cx="9326340" cy="939082"/>
          </a:xfrm>
        </p:spPr>
        <p:txBody>
          <a:bodyPr>
            <a:normAutofit/>
          </a:bodyPr>
          <a:lstStyle/>
          <a:p>
            <a:r>
              <a:rPr lang="en-US" dirty="0"/>
              <a:t>Data Modeling in Power BI</a:t>
            </a:r>
            <a:endParaRPr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5F5F88A-5B75-D274-DDA7-8558FDB89B80}"/>
              </a:ext>
            </a:extLst>
          </p:cNvPr>
          <p:cNvSpPr txBox="1">
            <a:spLocks/>
          </p:cNvSpPr>
          <p:nvPr/>
        </p:nvSpPr>
        <p:spPr>
          <a:xfrm>
            <a:off x="-2" y="1350508"/>
            <a:ext cx="2138837" cy="23674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Keine redundanten Textwerte 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Konsistente Schreibweise 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Fakten messen, Dimensionen beschreiben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630A3322-6AFF-4137-6911-7E3B3C0FE13D}"/>
              </a:ext>
            </a:extLst>
          </p:cNvPr>
          <p:cNvSpPr txBox="1"/>
          <p:nvPr/>
        </p:nvSpPr>
        <p:spPr>
          <a:xfrm>
            <a:off x="2966856" y="1263568"/>
            <a:ext cx="76607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Für die Analyse wurde ein Star Schema erstellt, bestehend aus einer Faktentabelle für Zeiteinträge und mehreren Dimensionstabellen.</a:t>
            </a:r>
            <a:endParaRPr lang="de-DE" b="1" dirty="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9D52BB87-698E-E552-9018-065D67452E87}"/>
              </a:ext>
            </a:extLst>
          </p:cNvPr>
          <p:cNvSpPr txBox="1"/>
          <p:nvPr/>
        </p:nvSpPr>
        <p:spPr>
          <a:xfrm>
            <a:off x="8425755" y="2349617"/>
            <a:ext cx="227203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Tabellen:</a:t>
            </a:r>
          </a:p>
          <a:p>
            <a:r>
              <a:rPr lang="de-DE" dirty="0"/>
              <a:t>Fact Tabelle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Fact_Zeiterfassung</a:t>
            </a:r>
            <a:endParaRPr lang="de-DE" dirty="0"/>
          </a:p>
          <a:p>
            <a:r>
              <a:rPr lang="de-DE" dirty="0"/>
              <a:t>Dimension Tabellen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Dim_Kurs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Dim_Lernart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Dim_Datum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Dim_Zeit</a:t>
            </a:r>
            <a:endParaRPr lang="de-DE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716BBFA-FA02-8E9A-1EF2-26E939B34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43DA5-54D3-4F4D-9561-E75639B2B3BA}" type="datetime1">
              <a:rPr lang="de-DE" smtClean="0">
                <a:solidFill>
                  <a:schemeClr val="bg1"/>
                </a:solidFill>
              </a:rPr>
              <a:t>15.03.2026</a:t>
            </a:fld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695CE76B-34B9-E3ED-D128-A0AE3A2D9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3EF5A-7514-4853-9EFC-86B13A32C4C2}" type="slidenum">
              <a:rPr lang="de-DE" smtClean="0"/>
              <a:t>7</a:t>
            </a:fld>
            <a:endParaRPr lang="de-DE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C20D73C9-1D8D-AE5E-A75A-0D013A5E41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6856" y="2404039"/>
            <a:ext cx="5056379" cy="3869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7020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3C2FB">
            <a:alpha val="5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9E6E8D-A475-822D-C990-C25C29D65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78B4120D-B49A-03C2-A2E7-984ADC08AF19}"/>
              </a:ext>
            </a:extLst>
          </p:cNvPr>
          <p:cNvSpPr/>
          <p:nvPr/>
        </p:nvSpPr>
        <p:spPr>
          <a:xfrm>
            <a:off x="0" y="0"/>
            <a:ext cx="2359907" cy="6854699"/>
          </a:xfrm>
          <a:prstGeom prst="rect">
            <a:avLst/>
          </a:prstGeom>
          <a:solidFill>
            <a:srgbClr val="007FFF"/>
          </a:solidFill>
          <a:ln>
            <a:solidFill>
              <a:srgbClr val="7F432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EF14AA43-FE95-B436-DCC7-9C95EEE6D1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70" y="88712"/>
            <a:ext cx="671887" cy="492442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B8161F95-5ECA-A39D-B7D4-315CBF2B4FF1}"/>
              </a:ext>
            </a:extLst>
          </p:cNvPr>
          <p:cNvSpPr txBox="1"/>
          <p:nvPr/>
        </p:nvSpPr>
        <p:spPr>
          <a:xfrm>
            <a:off x="781537" y="88712"/>
            <a:ext cx="1529019" cy="492443"/>
          </a:xfrm>
          <a:prstGeom prst="rect">
            <a:avLst/>
          </a:prstGeom>
          <a:solidFill>
            <a:schemeClr val="bg1"/>
          </a:solidFill>
          <a:ln>
            <a:solidFill>
              <a:srgbClr val="007F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>
                <a:solidFill>
                  <a:srgbClr val="1034A6"/>
                </a:solidFill>
              </a:rPr>
              <a:t>Zeiterfassung</a:t>
            </a:r>
          </a:p>
          <a:p>
            <a:pPr algn="ctr"/>
            <a:r>
              <a:rPr lang="de-DE" sz="1200" b="1" dirty="0">
                <a:solidFill>
                  <a:srgbClr val="1034A6"/>
                </a:solidFill>
              </a:rPr>
              <a:t> Elena </a:t>
            </a:r>
            <a:r>
              <a:rPr lang="de-DE" sz="1200" b="1" dirty="0" err="1">
                <a:solidFill>
                  <a:srgbClr val="1034A6"/>
                </a:solidFill>
              </a:rPr>
              <a:t>Wowchik</a:t>
            </a:r>
            <a:endParaRPr lang="de-DE" sz="1200" b="1" dirty="0">
              <a:solidFill>
                <a:srgbClr val="1034A6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D8AD077-057C-B565-80B9-99682E5592EA}"/>
              </a:ext>
            </a:extLst>
          </p:cNvPr>
          <p:cNvSpPr txBox="1">
            <a:spLocks/>
          </p:cNvSpPr>
          <p:nvPr/>
        </p:nvSpPr>
        <p:spPr>
          <a:xfrm>
            <a:off x="2544417" y="136525"/>
            <a:ext cx="9569313" cy="94559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5400" dirty="0"/>
              <a:t>Analytics Dashboard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BC70FEF-82D1-0D9B-1792-107EFDFFD9E5}"/>
              </a:ext>
            </a:extLst>
          </p:cNvPr>
          <p:cNvSpPr txBox="1">
            <a:spLocks/>
          </p:cNvSpPr>
          <p:nvPr/>
        </p:nvSpPr>
        <p:spPr>
          <a:xfrm>
            <a:off x="110534" y="1524244"/>
            <a:ext cx="2138837" cy="23674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Dashboards &amp; KPIs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Zeitliche Analysen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Top-Lerntage</a:t>
            </a:r>
          </a:p>
        </p:txBody>
      </p:sp>
      <p:sp>
        <p:nvSpPr>
          <p:cNvPr id="16" name="Datumsplatzhalter 15">
            <a:extLst>
              <a:ext uri="{FF2B5EF4-FFF2-40B4-BE49-F238E27FC236}">
                <a16:creationId xmlns:a16="http://schemas.microsoft.com/office/drawing/2014/main" id="{F162C153-5DE9-6467-4615-0ED56C5BB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6891A-47AD-4FFF-BC70-0F3E3F5CF2D4}" type="datetime1">
              <a:rPr lang="de-DE" smtClean="0">
                <a:solidFill>
                  <a:schemeClr val="bg1"/>
                </a:solidFill>
              </a:rPr>
              <a:t>15.03.2026</a:t>
            </a:fld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18" name="Foliennummernplatzhalter 17">
            <a:extLst>
              <a:ext uri="{FF2B5EF4-FFF2-40B4-BE49-F238E27FC236}">
                <a16:creationId xmlns:a16="http://schemas.microsoft.com/office/drawing/2014/main" id="{3908CDD1-F08C-3D6D-2147-797835C7A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3EF5A-7514-4853-9EFC-86B13A32C4C2}" type="slidenum">
              <a:rPr lang="de-DE" smtClean="0"/>
              <a:t>8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7CFD8EEC-FC62-0727-1DA0-A5423F2B94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4799" y="2157552"/>
            <a:ext cx="4579951" cy="2539594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77240B26-5D36-9AC2-A0E9-FF9EB14BADB6}"/>
              </a:ext>
            </a:extLst>
          </p:cNvPr>
          <p:cNvSpPr txBox="1"/>
          <p:nvPr/>
        </p:nvSpPr>
        <p:spPr>
          <a:xfrm>
            <a:off x="2734799" y="1435169"/>
            <a:ext cx="75358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Das Dashboard ermöglicht die Analyse von Lernmustern und zeitlichen Trends.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865EC023-C7F7-ABAA-2C92-252B6F806FE0}"/>
              </a:ext>
            </a:extLst>
          </p:cNvPr>
          <p:cNvSpPr txBox="1"/>
          <p:nvPr/>
        </p:nvSpPr>
        <p:spPr>
          <a:xfrm>
            <a:off x="7852423" y="2157551"/>
            <a:ext cx="365664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b="1" dirty="0"/>
              <a:t>KPIs: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Gesamtlernzeit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Durchschnitt pro Tag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produktivste Tage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Lernzeiten nach Tagesabschnitt</a:t>
            </a: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A770D741-26B9-679E-6889-B1C5CC4917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5573" y="3987929"/>
            <a:ext cx="4089118" cy="2292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7354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3C2FB">
            <a:alpha val="5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9ABD6F-8E6D-784B-D559-8316FF441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47448FCF-3436-C56D-8094-10AC75357F2B}"/>
              </a:ext>
            </a:extLst>
          </p:cNvPr>
          <p:cNvSpPr/>
          <p:nvPr/>
        </p:nvSpPr>
        <p:spPr>
          <a:xfrm>
            <a:off x="0" y="0"/>
            <a:ext cx="2359907" cy="6854699"/>
          </a:xfrm>
          <a:prstGeom prst="rect">
            <a:avLst/>
          </a:prstGeom>
          <a:solidFill>
            <a:srgbClr val="007FFF"/>
          </a:solidFill>
          <a:ln>
            <a:solidFill>
              <a:srgbClr val="7F432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A6A22F1E-A753-54D3-0822-7A2D40843F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70" y="88712"/>
            <a:ext cx="671887" cy="492442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B75D69E4-5429-8CBB-2F9B-28EF5910BD8F}"/>
              </a:ext>
            </a:extLst>
          </p:cNvPr>
          <p:cNvSpPr txBox="1"/>
          <p:nvPr/>
        </p:nvSpPr>
        <p:spPr>
          <a:xfrm>
            <a:off x="781537" y="88712"/>
            <a:ext cx="1529019" cy="492443"/>
          </a:xfrm>
          <a:prstGeom prst="rect">
            <a:avLst/>
          </a:prstGeom>
          <a:solidFill>
            <a:schemeClr val="bg1"/>
          </a:solidFill>
          <a:ln>
            <a:solidFill>
              <a:srgbClr val="007F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>
                <a:solidFill>
                  <a:srgbClr val="1034A6"/>
                </a:solidFill>
              </a:rPr>
              <a:t>Zeiterfassung</a:t>
            </a:r>
          </a:p>
          <a:p>
            <a:pPr algn="ctr"/>
            <a:r>
              <a:rPr lang="de-DE" sz="1200" b="1" dirty="0">
                <a:solidFill>
                  <a:srgbClr val="1034A6"/>
                </a:solidFill>
              </a:rPr>
              <a:t> Elena </a:t>
            </a:r>
            <a:r>
              <a:rPr lang="de-DE" sz="1200" b="1" dirty="0" err="1">
                <a:solidFill>
                  <a:srgbClr val="1034A6"/>
                </a:solidFill>
              </a:rPr>
              <a:t>Wowchik</a:t>
            </a:r>
            <a:endParaRPr lang="de-DE" sz="1200" b="1" dirty="0">
              <a:solidFill>
                <a:srgbClr val="1034A6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5F9B7D8-09B3-FE7B-B356-E6B9DD4B3D62}"/>
              </a:ext>
            </a:extLst>
          </p:cNvPr>
          <p:cNvSpPr txBox="1">
            <a:spLocks/>
          </p:cNvSpPr>
          <p:nvPr/>
        </p:nvSpPr>
        <p:spPr>
          <a:xfrm>
            <a:off x="2610016" y="136525"/>
            <a:ext cx="8229600" cy="86145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5400" dirty="0"/>
              <a:t>Projekt &amp; Code auf GitHub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1177836-AC8B-8597-3AA1-2C5AEBEF6772}"/>
              </a:ext>
            </a:extLst>
          </p:cNvPr>
          <p:cNvSpPr txBox="1">
            <a:spLocks/>
          </p:cNvSpPr>
          <p:nvPr/>
        </p:nvSpPr>
        <p:spPr>
          <a:xfrm>
            <a:off x="110534" y="1524244"/>
            <a:ext cx="2138837" cy="23674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Wingdings" panose="05000000000000000000" pitchFamily="2" charset="2"/>
              <a:buChar char="Ø"/>
            </a:pPr>
            <a:endParaRPr lang="de-DE" sz="1400" dirty="0">
              <a:solidFill>
                <a:schemeClr val="bg1"/>
              </a:solidFill>
            </a:endParaRPr>
          </a:p>
          <a:p>
            <a:pPr algn="l"/>
            <a:endParaRPr lang="de-DE" sz="1400" dirty="0">
              <a:solidFill>
                <a:schemeClr val="bg1"/>
              </a:solidFill>
            </a:endParaRP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061A210-B543-6C22-C26C-22E334AE9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FBB7A-55E1-4EB5-AB8E-DC23D393BECD}" type="datetime1">
              <a:rPr lang="de-DE" smtClean="0">
                <a:solidFill>
                  <a:schemeClr val="bg1"/>
                </a:solidFill>
              </a:rPr>
              <a:t>15.03.2026</a:t>
            </a:fld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2362F2F4-6A2E-5C6B-1101-A779C4CE9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3EF5A-7514-4853-9EFC-86B13A32C4C2}" type="slidenum">
              <a:rPr lang="de-DE" smtClean="0"/>
              <a:t>9</a:t>
            </a:fld>
            <a:endParaRPr lang="de-DE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44086382-2084-EB3C-6A64-B6DD29B54DA6}"/>
              </a:ext>
            </a:extLst>
          </p:cNvPr>
          <p:cNvSpPr txBox="1"/>
          <p:nvPr/>
        </p:nvSpPr>
        <p:spPr>
          <a:xfrm>
            <a:off x="3031958" y="1395663"/>
            <a:ext cx="5120954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/>
              <a:t>GitHub Repository</a:t>
            </a:r>
            <a:br>
              <a:rPr lang="de-DE" dirty="0"/>
            </a:br>
            <a:r>
              <a:rPr lang="de-DE" dirty="0">
                <a:hlinkClick r:id="rId3"/>
              </a:rPr>
              <a:t>github.com/Elena-</a:t>
            </a:r>
            <a:r>
              <a:rPr lang="de-DE" dirty="0" err="1">
                <a:hlinkClick r:id="rId3"/>
              </a:rPr>
              <a:t>Wowchik</a:t>
            </a:r>
            <a:r>
              <a:rPr lang="de-DE" dirty="0">
                <a:hlinkClick r:id="rId3"/>
              </a:rPr>
              <a:t>/</a:t>
            </a:r>
            <a:r>
              <a:rPr lang="de-DE" dirty="0" err="1">
                <a:hlinkClick r:id="rId3"/>
              </a:rPr>
              <a:t>Projekt_Zeiterfassung</a:t>
            </a:r>
            <a:endParaRPr lang="de-DE" dirty="0"/>
          </a:p>
          <a:p>
            <a:endParaRPr lang="de-DE" dirty="0"/>
          </a:p>
          <a:p>
            <a:r>
              <a:rPr lang="de-DE" dirty="0"/>
              <a:t>Im Repository enthalten: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Python-Code der </a:t>
            </a:r>
            <a:r>
              <a:rPr lang="de-DE" dirty="0" err="1"/>
              <a:t>Streamlit</a:t>
            </a:r>
            <a:r>
              <a:rPr lang="de-DE" dirty="0"/>
              <a:t>-App zur Dateneingabe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Architekturdiagramm der Datenpipeline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Projektpräsentation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Beschreibung des Projekts und der Technologien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268738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3C2FB">
            <a:alpha val="5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0796BE-FC9F-EF7E-CE58-AB787EB85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DC64D5AA-0B94-196E-04EE-7C8F4C865B5F}"/>
              </a:ext>
            </a:extLst>
          </p:cNvPr>
          <p:cNvSpPr/>
          <p:nvPr/>
        </p:nvSpPr>
        <p:spPr>
          <a:xfrm>
            <a:off x="0" y="0"/>
            <a:ext cx="2359907" cy="6854699"/>
          </a:xfrm>
          <a:prstGeom prst="rect">
            <a:avLst/>
          </a:prstGeom>
          <a:solidFill>
            <a:srgbClr val="007FFF"/>
          </a:solidFill>
          <a:ln>
            <a:solidFill>
              <a:srgbClr val="7F432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6E3A4357-925C-FEEB-1917-810D1B0FF8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70" y="88712"/>
            <a:ext cx="671887" cy="492442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61EDE187-3C9A-7BE8-9992-D4719E07322C}"/>
              </a:ext>
            </a:extLst>
          </p:cNvPr>
          <p:cNvSpPr txBox="1"/>
          <p:nvPr/>
        </p:nvSpPr>
        <p:spPr>
          <a:xfrm>
            <a:off x="781537" y="88712"/>
            <a:ext cx="1529019" cy="492443"/>
          </a:xfrm>
          <a:prstGeom prst="rect">
            <a:avLst/>
          </a:prstGeom>
          <a:solidFill>
            <a:schemeClr val="bg1"/>
          </a:solidFill>
          <a:ln>
            <a:solidFill>
              <a:srgbClr val="007F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>
                <a:solidFill>
                  <a:srgbClr val="1034A6"/>
                </a:solidFill>
              </a:rPr>
              <a:t>Zeiterfassung</a:t>
            </a:r>
          </a:p>
          <a:p>
            <a:pPr algn="ctr"/>
            <a:r>
              <a:rPr lang="de-DE" sz="1200" b="1" dirty="0">
                <a:solidFill>
                  <a:srgbClr val="1034A6"/>
                </a:solidFill>
              </a:rPr>
              <a:t> Elena </a:t>
            </a:r>
            <a:r>
              <a:rPr lang="de-DE" sz="1200" b="1" dirty="0" err="1">
                <a:solidFill>
                  <a:srgbClr val="1034A6"/>
                </a:solidFill>
              </a:rPr>
              <a:t>Wowchik</a:t>
            </a:r>
            <a:endParaRPr lang="de-DE" sz="1200" b="1" dirty="0">
              <a:solidFill>
                <a:srgbClr val="1034A6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E2136E3-B840-9101-B73D-38793C06EA6B}"/>
              </a:ext>
            </a:extLst>
          </p:cNvPr>
          <p:cNvSpPr txBox="1">
            <a:spLocks/>
          </p:cNvSpPr>
          <p:nvPr/>
        </p:nvSpPr>
        <p:spPr>
          <a:xfrm>
            <a:off x="3092093" y="8871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5400" dirty="0"/>
              <a:t>Fazit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448C71A-B1DD-34F0-1448-95CA56F5718B}"/>
              </a:ext>
            </a:extLst>
          </p:cNvPr>
          <p:cNvSpPr txBox="1">
            <a:spLocks/>
          </p:cNvSpPr>
          <p:nvPr/>
        </p:nvSpPr>
        <p:spPr>
          <a:xfrm>
            <a:off x="110534" y="1524244"/>
            <a:ext cx="2138837" cy="23674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a-DK" sz="1400" dirty="0">
                <a:solidFill>
                  <a:schemeClr val="bg1"/>
                </a:solidFill>
              </a:rPr>
              <a:t>End-to-End BI-Projekt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a-DK" sz="1400" dirty="0">
                <a:solidFill>
                  <a:schemeClr val="bg1"/>
                </a:solidFill>
              </a:rPr>
              <a:t>Cloud + Analyse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a-DK" sz="1400" dirty="0">
                <a:solidFill>
                  <a:schemeClr val="bg1"/>
                </a:solidFill>
              </a:rPr>
              <a:t>Praxisnah</a:t>
            </a:r>
          </a:p>
          <a:p>
            <a:pPr algn="l"/>
            <a:endParaRPr lang="de-DE" sz="1400" dirty="0">
              <a:solidFill>
                <a:schemeClr val="bg1"/>
              </a:solidFill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682B4FAD-F339-B29C-79F4-09D85532CF3C}"/>
              </a:ext>
            </a:extLst>
          </p:cNvPr>
          <p:cNvSpPr txBox="1"/>
          <p:nvPr/>
        </p:nvSpPr>
        <p:spPr>
          <a:xfrm>
            <a:off x="3092092" y="1524244"/>
            <a:ext cx="8318029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Das Projekt demonstriert die Umsetzung einer </a:t>
            </a:r>
            <a:r>
              <a:rPr lang="de-DE" b="1" dirty="0"/>
              <a:t>End-</a:t>
            </a:r>
            <a:r>
              <a:rPr lang="de-DE" b="1" dirty="0" err="1"/>
              <a:t>to</a:t>
            </a:r>
            <a:r>
              <a:rPr lang="de-DE" b="1" dirty="0"/>
              <a:t>-End-Datenpipeline</a:t>
            </a:r>
            <a:r>
              <a:rPr lang="de-DE" dirty="0"/>
              <a:t> mit Best Practices aus Business </a:t>
            </a:r>
            <a:r>
              <a:rPr lang="de-DE" dirty="0" err="1"/>
              <a:t>Intelligence</a:t>
            </a:r>
            <a:r>
              <a:rPr lang="de-DE" dirty="0"/>
              <a:t> und Cloud-Architekturen. Ausgangspunkt war eine einfache Excel-Lösung, die zu einem professionellen System weiterentwickelt wurde.</a:t>
            </a:r>
          </a:p>
          <a:p>
            <a:endParaRPr lang="de-DE" dirty="0"/>
          </a:p>
          <a:p>
            <a:r>
              <a:rPr lang="de-DE" b="1" dirty="0"/>
              <a:t>Professionelle Umsetzung durch:</a:t>
            </a:r>
            <a:endParaRPr lang="de-DE" dirty="0"/>
          </a:p>
          <a:p>
            <a:r>
              <a:rPr lang="de-DE" b="1" dirty="0"/>
              <a:t>Trennung von Datenspeicherung und Analyse:</a:t>
            </a:r>
            <a:r>
              <a:rPr lang="de-DE" dirty="0"/>
              <a:t> Daten liegen zentral in AWS S3, unabhängig von Reporting-Tools</a:t>
            </a:r>
          </a:p>
          <a:p>
            <a:r>
              <a:rPr lang="de-DE" b="1" dirty="0"/>
              <a:t>Nutzung eines Data </a:t>
            </a:r>
            <a:r>
              <a:rPr lang="de-DE" b="1" dirty="0" err="1"/>
              <a:t>Catalogs</a:t>
            </a:r>
            <a:r>
              <a:rPr lang="de-DE" b="1" dirty="0"/>
              <a:t> (AWS </a:t>
            </a:r>
            <a:r>
              <a:rPr lang="de-DE" b="1" dirty="0" err="1"/>
              <a:t>Glue</a:t>
            </a:r>
            <a:r>
              <a:rPr lang="de-DE" b="1" dirty="0"/>
              <a:t>):</a:t>
            </a:r>
            <a:r>
              <a:rPr lang="de-DE" dirty="0"/>
              <a:t> automatische Struktur- und Metadatenverwaltung für hohe Datenqualität</a:t>
            </a:r>
          </a:p>
          <a:p>
            <a:r>
              <a:rPr lang="de-DE" b="1" dirty="0"/>
              <a:t>Cloud-native Query Engine (Athena):</a:t>
            </a:r>
            <a:r>
              <a:rPr lang="de-DE" dirty="0"/>
              <a:t> Abfragen direkt auf Rohdaten ohne lokale Datenbanken</a:t>
            </a:r>
          </a:p>
          <a:p>
            <a:r>
              <a:rPr lang="de-DE" b="1" dirty="0"/>
              <a:t>Automatisierte Datenaktualisierung:</a:t>
            </a:r>
            <a:r>
              <a:rPr lang="de-DE" dirty="0"/>
              <a:t> Dashboards in Power BI aktualisieren sich automatisch ohne manuellen CSV-Export</a:t>
            </a:r>
          </a:p>
          <a:p>
            <a:r>
              <a:rPr lang="de-DE" b="1" dirty="0"/>
              <a:t>Robuste Datenmodellierung:</a:t>
            </a:r>
            <a:r>
              <a:rPr lang="de-DE" dirty="0"/>
              <a:t> Star-Schema mit Fakt- und Dimensionstabellen, Bereinigung via Power Query</a:t>
            </a:r>
          </a:p>
          <a:p>
            <a:r>
              <a:rPr lang="de-DE" dirty="0"/>
              <a:t>Das Ergebnis ist ein </a:t>
            </a:r>
            <a:r>
              <a:rPr lang="de-DE" b="1" dirty="0"/>
              <a:t>skalierbares, sicheres und wartbares System</a:t>
            </a:r>
            <a:r>
              <a:rPr lang="de-DE" dirty="0"/>
              <a:t>, das sowohl für eigene Analysen als auch als Demonstration professioneller BI-Pipelines geeignet ist.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7971AF0-AB12-5B73-C625-F7CA128D2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FA37F-FBE6-44F5-BBF2-5BEE49687643}" type="datetime1">
              <a:rPr lang="de-DE" smtClean="0">
                <a:solidFill>
                  <a:schemeClr val="bg1"/>
                </a:solidFill>
              </a:rPr>
              <a:t>15.03.2026</a:t>
            </a:fld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8AD3FE8-1A2D-6F7C-2EEF-C3D6A050C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3EF5A-7514-4853-9EFC-86B13A32C4C2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392478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787</Words>
  <Application>Microsoft Office PowerPoint</Application>
  <PresentationFormat>Breitbild</PresentationFormat>
  <Paragraphs>165</Paragraphs>
  <Slides>10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Wingdings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Data Modeling in Power BI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Donald Brim</dc:creator>
  <cp:lastModifiedBy>evovtch</cp:lastModifiedBy>
  <cp:revision>64</cp:revision>
  <cp:lastPrinted>2026-02-05T13:53:32Z</cp:lastPrinted>
  <dcterms:created xsi:type="dcterms:W3CDTF">2025-03-09T12:27:48Z</dcterms:created>
  <dcterms:modified xsi:type="dcterms:W3CDTF">2026-03-15T11:59:55Z</dcterms:modified>
</cp:coreProperties>
</file>