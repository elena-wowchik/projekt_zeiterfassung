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57" r:id="rId4"/>
    <p:sldId id="260" r:id="rId5"/>
    <p:sldId id="261" r:id="rId6"/>
    <p:sldId id="262" r:id="rId7"/>
    <p:sldId id="274" r:id="rId8"/>
    <p:sldId id="259" r:id="rId9"/>
    <p:sldId id="272" r:id="rId10"/>
    <p:sldId id="275" r:id="rId11"/>
    <p:sldId id="276" r:id="rId12"/>
    <p:sldId id="265" r:id="rId13"/>
    <p:sldId id="264" r:id="rId14"/>
    <p:sldId id="270" r:id="rId15"/>
    <p:sldId id="278" r:id="rId16"/>
    <p:sldId id="263" r:id="rId17"/>
    <p:sldId id="266" r:id="rId18"/>
    <p:sldId id="267" r:id="rId19"/>
    <p:sldId id="268" r:id="rId20"/>
    <p:sldId id="269" r:id="rId21"/>
    <p:sldId id="277" r:id="rId22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FF"/>
    <a:srgbClr val="73C2FB"/>
    <a:srgbClr val="D1EAF0"/>
    <a:srgbClr val="BCD4E6"/>
    <a:srgbClr val="1034A6"/>
    <a:srgbClr val="191970"/>
    <a:srgbClr val="643200"/>
    <a:srgbClr val="7F432F"/>
    <a:srgbClr val="060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11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1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13:51:21.8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2003 1698 16730,'0'66'0,"-3"1"0,0-1 0,-3 0 0,-1 0 0,-1-1 0,-2-1 0,-2 0 0,0-1 0,-3-1 0,-1-1 0,-1-1 0,-1-1 0,-2-2 0,-1-1 0,-2-1 0,-1-2 0,-1-1 0,-1-2 0,-1-2 0,-1-2 0,-2-2 0,0-2 0,-1-1 0,-2-3 0,0-2 0,-1-3 0,0-1 0,-2-3 0,0-3 0,0-1 0,-2-3 0,1-3 0,-1-2 0,-1-3 0,1-2 0,-1-3 0,-1-3 0,1-2 0,0-2 0,0-4 0,-1-2 0,1-2 0,0-3 0,0-3 0,1-2 0,0-3 0,0-2 0,1-3 0,1-3 0,0-1 0,0-3 0,2-3 0,0-1 0,0-3 0,2-2 0,1-3 0,0-1 0,2-2 0,1-2 0,0-2 0,2-2 0,1-2 0,2-1 0,0-2 0,2-1 0,1-1 0,1-2 0,2-1 0,2-1 0,0-1 0,2-1 0,2-1 0,1 0 0,2-1 0,1-1 0,1 0 0,2 0 0,2-1 0,1 1 0,2-1 0,1 1 0,2-1 0,2 1 0,1 1 0,1 0 0,2 0 0,1 1 0,2 1 0,2 1 0,0 1 0,2 1 0,2 1 0,1 2 0,1 1 0,2 1 0,0 2 0,2 2 0,1 1 0,2 2 0,0 2 0,1 1 0,2 3 0,0 2 0,1 2 0,2 2 0,0 2 0,0 3 0,2 2 0,0 2 0,0 3 0,1 2 0,1 2 0,0 4 0,0 1 0,1 4 0,0 1 0,0 4 0,1 2 0,-1 3 0,0 2 0,0 3 0,1 2 0,-1 4 0,-1 1 0,1 4 0,-1 1 0,-1 4 0,1 2 0,-2 2 0,0 3 0,0 2 0,-2 2 0,0 3 0,-1 2 0,0 2 0,-2 2 0,-1 2 0,0 3 0,-2 1 0,-1 2 0,-1 2 0,-1 1 0,-1 2 0,-1 2 0,-2 1 0,-1 1 0,-2 2 0,-1 1 0,-1 1 0,-1 1 0,-3 1 0,0 1 0,-2 1 0,-2 0 0,-1 0 0,-1 1 0,-3 1 0,0-1 0,-3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13:51:44.4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6553,'0'-2'0,"0"0"0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13:53:47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5527" tIns="47764" rIns="95527" bIns="47764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5527" tIns="47764" rIns="95527" bIns="47764" rtlCol="0"/>
          <a:lstStyle>
            <a:lvl1pPr algn="r">
              <a:defRPr sz="1300"/>
            </a:lvl1pPr>
          </a:lstStyle>
          <a:p>
            <a:fld id="{2284EA81-89A7-420A-9D6C-1F02F230B1F0}" type="datetimeFigureOut">
              <a:rPr lang="de-DE" smtClean="0"/>
              <a:t>04.03.2026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27" tIns="47764" rIns="95527" bIns="4776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5527" tIns="47764" rIns="95527" bIns="47764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5527" tIns="47764" rIns="95527" bIns="47764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5527" tIns="47764" rIns="95527" bIns="47764" rtlCol="0" anchor="b"/>
          <a:lstStyle>
            <a:lvl1pPr algn="r">
              <a:defRPr sz="1300"/>
            </a:lvl1pPr>
          </a:lstStyle>
          <a:p>
            <a:fld id="{8DE33D8B-9CF5-4846-8D10-AA31112C71A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72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33D8B-9CF5-4846-8D10-AA31112C71A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268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E33D8B-9CF5-4846-8D10-AA31112C71A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7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1A816-2209-8637-892F-892B8F420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889795-BB0B-F60C-DCDE-2B5C3EAAF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CD2AAC-8E39-7503-C724-F8F75D0E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93AF1-E507-4FC1-AAF4-35461B54438B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8C77AE-576F-0FF1-9314-DC0F6A7C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6B175-48AC-8685-D97E-1ED552C8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7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D0A66-EB40-98D8-0AD5-E0EE46C1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94E4D-ECE0-0087-A3EE-0C3B4B9B3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B9A3F-9D93-B5D3-2828-052375FB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8BA9-D863-47E0-ABF6-4A0510D3C411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B79F36-61B1-AC42-C0D9-B34DFC45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50904-2981-7723-E362-332E3830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29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D9622-5BEC-3BE4-372E-8733EDC6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B4B8B-1E57-7CF3-07A5-9F7CC4141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ED2EAE-4CC7-92A0-1DD8-3EFCD427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689C-3761-4014-BC91-5A35C259A648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78DAFC-ED3D-8AA1-0C06-FCFBFE6F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50DB51-6A1C-9151-C298-8AF9110A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56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45AB0-3799-40D8-D295-C939A675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114E1-AF34-40E3-F7E5-D42A9DF5D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CC5CF6-170A-75D3-32F3-224DBCF4B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CBD6B0-5AD9-C194-B333-32EE7F68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975C-C8DB-44EB-9065-4294E53300FB}" type="datetime1">
              <a:rPr lang="de-DE" smtClean="0"/>
              <a:t>04.03.2026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082815-D74D-5CED-B1EB-5A51AA05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BF6D70-CAB4-6C75-0E3B-84589301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174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169F8-4CE1-2942-3DDE-BE5CDE90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DD7B3D-9055-5DC0-DF65-69A6A80E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129490-5576-139D-697E-487B5F90F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C22D09-294F-776B-95A0-054611A9E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26790C-557A-119C-D1B0-03F1F4A6A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32E58EE-A8B8-0EA2-8240-13900156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E801-2032-427F-B41F-0702522A585A}" type="datetime1">
              <a:rPr lang="de-DE" smtClean="0"/>
              <a:t>04.03.2026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53BD16-2057-8B5D-3226-E58F0B63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24B63F-F107-9C12-FEC0-5D0CA913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00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04696-6363-26AB-B5B6-E0AB4EC8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D58168-15D5-8CB5-EF7F-D0D70581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0CB5-474A-43B3-9685-ECD30059EFEB}" type="datetime1">
              <a:rPr lang="de-DE" smtClean="0"/>
              <a:t>04.03.2026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E907B6-F4AC-7B94-589D-5A2794DE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C09D24-651A-C550-76D9-393D4E51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49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ED0225F-CAF2-2624-4126-C12666A7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0AF7-6744-46C2-8853-6AB3CCB98BD9}" type="datetime1">
              <a:rPr lang="de-DE" smtClean="0"/>
              <a:t>04.03.2026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F29C5F-322F-EFD5-E149-03B54B5D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74AC2D-3749-9041-F52C-DBFE2DEF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487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6169E-B7DF-A4E4-C581-ECCBCC8C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FCA2E7-6B4C-4195-05E8-1AE336A8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2381C2-3389-2973-2714-227CE0C99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A8C4F1-8B5F-7A32-43FF-46046335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39262-7768-419F-A063-9CBDAB921AB6}" type="datetime1">
              <a:rPr lang="de-DE" smtClean="0"/>
              <a:t>04.03.2026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4E1185-D045-24A7-034D-E0220B53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19BCF2-970F-5716-E0C5-B6ECB03F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70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2E538-56E3-3462-A6C7-C00F540A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9EBF3CE-B74A-1FC1-3AD2-9B7A5A9A8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95F2DD-05DA-CC6E-A7B3-D5DC582F0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9C3619-1FE7-8518-2E8F-05DB00D1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03D8C-DA9D-4C78-8C68-07C452C23620}" type="datetime1">
              <a:rPr lang="de-DE" smtClean="0"/>
              <a:t>04.03.2026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5F86A6-18D7-9B5F-594C-311EA917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ED7136-EE53-2F42-AEEB-34F7024C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09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15678-7B0F-04DE-093E-F2E1E26B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0C33DC-320C-D42A-1D5C-62D069192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2E76F4-3DBE-8EEB-3993-F81B2047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DF2B2-21F4-4F5A-8988-5D5D6C78BEA1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D55E76-FA00-DFC2-8095-A0BD0EE6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ED0556-149B-1C4D-39FB-01423340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57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A98B599-BC23-9D0F-E7C7-629878783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921B62-D4F7-3154-34ED-DD29142F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8C666-4030-BA67-0486-DD308906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08A7-2BF2-4CF6-BFBD-185EF8E16DDD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E003FD-FD49-43A0-D24A-8C226452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D7CA1B-6C11-D16C-DD26-4471F46F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57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46FF96D-AD45-E5AB-FEF5-A32B9071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63CEE-269E-10FD-59C8-CC3783BFB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0FC1B7-3B85-5130-FED6-58C09BD79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4C86F-1E1E-45C4-ABA1-474A93FFF2C8}" type="datetime1">
              <a:rPr lang="de-DE" smtClean="0"/>
              <a:t>04.03.2026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AF84D5-5E99-C1FE-46DE-633B37A0C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ACCE62-8486-B8C5-4AD4-0364801FB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97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customXml" Target="../ink/ink2.xml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ena-Wowchik/Projekt_Zeiterfassu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elena-wowchik-b0015829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E8DB51A-76DF-FB67-F924-C4EE19859ED7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A045E1-4AC3-4F77-E85A-AB9FCFD52A77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Datum/Zeit/Kurs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ETL/AWS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Power BI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BF9B38FA-2ABB-48BC-9A75-5D8F72217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32" y="226949"/>
            <a:ext cx="9611798" cy="640410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E99B06-3E7A-93A6-DDBE-0E45F4E4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77599" cy="365125"/>
          </a:xfrm>
        </p:spPr>
        <p:txBody>
          <a:bodyPr/>
          <a:lstStyle/>
          <a:p>
            <a:fld id="{4757B6D5-AC2B-414C-B9F5-8247A171F44F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FF84B54-57B0-3CB7-3790-CF11C5D4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061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5063D-BEAA-D2E2-01E7-F6AE36093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9B43F95-7327-955F-5724-64E37E674EA3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2E6EB2B-CF4A-E5C5-3BC4-54459A509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C55A41F-D987-A233-55F3-4A0D0DC1CAB9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2ADB94-CD96-EEF3-E5CF-9CEEEA5B5FD2}"/>
              </a:ext>
            </a:extLst>
          </p:cNvPr>
          <p:cNvSpPr txBox="1">
            <a:spLocks/>
          </p:cNvSpPr>
          <p:nvPr/>
        </p:nvSpPr>
        <p:spPr>
          <a:xfrm>
            <a:off x="2705635" y="120453"/>
            <a:ext cx="8608928" cy="10469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„</a:t>
            </a:r>
            <a:r>
              <a:rPr lang="de-DE" sz="5400" i="1" dirty="0"/>
              <a:t>Der Weg ist das Ziel“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FFB2EE-6849-2B14-D502-BDBE6C7694D4}"/>
              </a:ext>
            </a:extLst>
          </p:cNvPr>
          <p:cNvSpPr txBox="1">
            <a:spLocks/>
          </p:cNvSpPr>
          <p:nvPr/>
        </p:nvSpPr>
        <p:spPr>
          <a:xfrm>
            <a:off x="70963" y="1442190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Projekt zur Analyse meiner Lernzeiten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Ziel: Lernzeiten sammeln,  übertragen datenbasiert auswerten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b="1" dirty="0">
                <a:solidFill>
                  <a:schemeClr val="bg1"/>
                </a:solidFill>
              </a:rPr>
              <a:t>Technologien:</a:t>
            </a:r>
            <a:br>
              <a:rPr lang="de-DE" sz="1400" dirty="0">
                <a:solidFill>
                  <a:schemeClr val="bg1"/>
                </a:solidFill>
              </a:rPr>
            </a:br>
            <a:r>
              <a:rPr lang="de-DE" sz="1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de-DE" sz="1400" dirty="0">
                <a:solidFill>
                  <a:schemeClr val="bg1"/>
                </a:solidFill>
              </a:rPr>
              <a:t>Excel, </a:t>
            </a:r>
            <a:r>
              <a:rPr lang="de-DE" sz="1400" dirty="0" err="1">
                <a:solidFill>
                  <a:schemeClr val="bg1"/>
                </a:solidFill>
              </a:rPr>
              <a:t>python</a:t>
            </a:r>
            <a:br>
              <a:rPr lang="de-DE" sz="1400" dirty="0">
                <a:solidFill>
                  <a:schemeClr val="bg1"/>
                </a:solidFill>
              </a:rPr>
            </a:br>
            <a:r>
              <a:rPr lang="de-DE" sz="1400" dirty="0">
                <a:solidFill>
                  <a:schemeClr val="bg1"/>
                </a:solidFill>
              </a:rPr>
              <a:t>→ CSV</a:t>
            </a:r>
            <a:br>
              <a:rPr lang="de-DE" sz="1400" dirty="0">
                <a:solidFill>
                  <a:schemeClr val="bg1"/>
                </a:solidFill>
              </a:rPr>
            </a:br>
            <a:r>
              <a:rPr lang="de-DE" sz="1400" dirty="0">
                <a:solidFill>
                  <a:schemeClr val="bg1"/>
                </a:solidFill>
              </a:rPr>
              <a:t>→ AWS</a:t>
            </a:r>
            <a:br>
              <a:rPr lang="de-DE" sz="1400" dirty="0">
                <a:solidFill>
                  <a:schemeClr val="bg1"/>
                </a:solidFill>
              </a:rPr>
            </a:br>
            <a:r>
              <a:rPr lang="de-DE" sz="1400" dirty="0">
                <a:solidFill>
                  <a:schemeClr val="bg1"/>
                </a:solidFill>
              </a:rPr>
              <a:t>→  Power BI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E58E905-2666-C158-B2C0-57CDAD742946}"/>
              </a:ext>
            </a:extLst>
          </p:cNvPr>
          <p:cNvSpPr txBox="1"/>
          <p:nvPr/>
        </p:nvSpPr>
        <p:spPr>
          <a:xfrm>
            <a:off x="2705635" y="1442190"/>
            <a:ext cx="84171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Von der manuellen Zeiteingabe zur strukturierten Analyse in Power BI</a:t>
            </a:r>
          </a:p>
          <a:p>
            <a:r>
              <a:rPr lang="de-DE" b="1" dirty="0"/>
              <a:t>Technologien:</a:t>
            </a:r>
            <a:br>
              <a:rPr lang="de-DE" dirty="0"/>
            </a:br>
            <a:r>
              <a:rPr lang="de-DE" dirty="0"/>
              <a:t>🕒 Datum &amp; Zeit in Excel, später </a:t>
            </a:r>
            <a:r>
              <a:rPr lang="de-DE" dirty="0" err="1">
                <a:sym typeface="Wingdings" panose="05000000000000000000" pitchFamily="2" charset="2"/>
              </a:rPr>
              <a:t>Streamlit</a:t>
            </a:r>
            <a:r>
              <a:rPr lang="de-DE" dirty="0">
                <a:sym typeface="Wingdings" panose="05000000000000000000" pitchFamily="2" charset="2"/>
              </a:rPr>
              <a:t>/Python-Eingabemaske</a:t>
            </a:r>
            <a:br>
              <a:rPr lang="de-DE" dirty="0"/>
            </a:br>
            <a:r>
              <a:rPr lang="de-DE" dirty="0"/>
              <a:t>→ 🧾 CSV</a:t>
            </a:r>
            <a:br>
              <a:rPr lang="de-DE" dirty="0"/>
            </a:br>
            <a:r>
              <a:rPr lang="de-DE" dirty="0"/>
              <a:t>→ ☁️ AWS</a:t>
            </a:r>
            <a:br>
              <a:rPr lang="de-DE" dirty="0"/>
            </a:br>
            <a:r>
              <a:rPr lang="de-DE" dirty="0"/>
              <a:t>→ 📊 Power BI</a:t>
            </a:r>
          </a:p>
          <a:p>
            <a:endParaRPr lang="de-DE" dirty="0"/>
          </a:p>
          <a:p>
            <a:r>
              <a:rPr lang="de-DE" dirty="0"/>
              <a:t>Das Motto meines Projekts lautet: </a:t>
            </a:r>
            <a:r>
              <a:rPr lang="de-DE" i="1" dirty="0"/>
              <a:t>Der Weg ist das Ziel.</a:t>
            </a:r>
            <a:br>
              <a:rPr lang="de-DE" dirty="0"/>
            </a:br>
            <a:r>
              <a:rPr lang="de-DE" dirty="0"/>
              <a:t>Mir ging es nicht nur um das End-Dashboard, sondern darum, eine komplette Datenpipeline (ETL) aufzubauen – von der ersten Eingabe von Datum und Zeit bis zur professionellen Auswertung in Power BI.</a:t>
            </a:r>
          </a:p>
          <a:p>
            <a:endParaRPr lang="de-DE" dirty="0"/>
          </a:p>
          <a:p>
            <a:r>
              <a:rPr lang="de-DE" dirty="0"/>
              <a:t>Ich wollte verstehen, wie Daten in der Praxis ihren Weg nehmen – von der Erfassung über die Cloud bis zur Analyse.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026DF5-4230-A474-A361-A2271953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2700"/>
            <a:ext cx="2743200" cy="365125"/>
          </a:xfrm>
        </p:spPr>
        <p:txBody>
          <a:bodyPr/>
          <a:lstStyle/>
          <a:p>
            <a:fld id="{14542261-7FFA-4BB7-AA1F-897F5DCF1718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E62EBFC-321E-2269-A1A4-C01E3A50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78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0D979-B1A3-FAA8-0F23-942B49E6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603274C-DB6A-5072-3AED-F3EF334D9106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B5EA21E-5BE6-17A5-3A51-2D0C5A09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1F44A3D-1CCE-E12D-E77D-097FE0E10374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791D9E-782F-43DA-DB8D-2D33FDC2FE97}"/>
              </a:ext>
            </a:extLst>
          </p:cNvPr>
          <p:cNvSpPr txBox="1">
            <a:spLocks/>
          </p:cNvSpPr>
          <p:nvPr/>
        </p:nvSpPr>
        <p:spPr>
          <a:xfrm>
            <a:off x="2883937" y="229210"/>
            <a:ext cx="8229600" cy="7038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Ausgangssituation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9B6D83-41F9-4A58-6C2C-31662DF71EA8}"/>
              </a:ext>
            </a:extLst>
          </p:cNvPr>
          <p:cNvSpPr txBox="1">
            <a:spLocks/>
          </p:cNvSpPr>
          <p:nvPr/>
        </p:nvSpPr>
        <p:spPr>
          <a:xfrm>
            <a:off x="70963" y="1221377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Mehrere Excel-Sheets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Unterschiedliche Formate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Keine klare Auswertung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9AA34D5-A303-387A-2228-D6CC562E13C6}"/>
              </a:ext>
            </a:extLst>
          </p:cNvPr>
          <p:cNvSpPr txBox="1"/>
          <p:nvPr/>
        </p:nvSpPr>
        <p:spPr>
          <a:xfrm>
            <a:off x="2940423" y="1221377"/>
            <a:ext cx="8684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Am Anfang habe ich meine Lernzeiten in mehreren Excel-Sheets erfasst. Die Formate waren unterschiedlich und Auswertungen waren kaum möglich. Ich konnte nicht sehen, wann oder wie effizient ich gelernt habe.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866C72D-01F6-79B9-5B30-6BE6021E9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23" y="2234780"/>
            <a:ext cx="2463616" cy="377368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94FE1AF-E2A2-EA5F-B7FD-4F5F589A7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888" y="2212637"/>
            <a:ext cx="3598312" cy="381796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D0B04D-799C-C8CC-5D67-C05BF7202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ACB3-B05B-45B2-AD4E-BB05126C7519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83E4ED7-0757-533E-D504-601EC550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43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68E69-15AB-58E5-5F06-9D83E0D3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C40E967-B60D-0511-4C20-CCFE69D24B8F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3819BFF-3B0B-1267-0A41-37B0C10AB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92156D5-7D21-00EA-D8DB-A893A8F15327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C7EEB0-014C-5C9F-921B-CEBBEF536363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0303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 err="1"/>
              <a:t>Streamlit</a:t>
            </a:r>
            <a:r>
              <a:rPr lang="de-DE" sz="5400" dirty="0"/>
              <a:t>: Dateneingabe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824EAF-BA62-CA03-BC78-DCCD96022AA7}"/>
              </a:ext>
            </a:extLst>
          </p:cNvPr>
          <p:cNvSpPr txBox="1">
            <a:spLocks/>
          </p:cNvSpPr>
          <p:nvPr/>
        </p:nvSpPr>
        <p:spPr>
          <a:xfrm>
            <a:off x="186598" y="14001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Benutzeroberfläche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Automatische Stundenberechnung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Einheitliches Format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70E457-CBE5-C278-4095-07CB3E844510}"/>
              </a:ext>
            </a:extLst>
          </p:cNvPr>
          <p:cNvSpPr txBox="1"/>
          <p:nvPr/>
        </p:nvSpPr>
        <p:spPr>
          <a:xfrm>
            <a:off x="2604749" y="1383524"/>
            <a:ext cx="90280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Die CSV-Datei wird nicht lokal verwaltet. </a:t>
            </a:r>
            <a:r>
              <a:rPr lang="de-DE" dirty="0" err="1"/>
              <a:t>Streamlit</a:t>
            </a:r>
            <a:r>
              <a:rPr lang="de-DE" dirty="0"/>
              <a:t> dient ausschließlich als Frontend zur Dateneingabe. Hier trage ich Datum, Start- und Endzeit ein, und die Dauer wird automatisch berechnet. Die Persistenz erfolgt zentral in AWS S3, wodurch die Anwendung zustandslos bleibt und sich problemlos in eine Cloud-Pipeline mit </a:t>
            </a:r>
            <a:r>
              <a:rPr lang="de-DE" dirty="0" err="1"/>
              <a:t>Glue</a:t>
            </a:r>
            <a:r>
              <a:rPr lang="de-DE" dirty="0"/>
              <a:t>, Athena und Power BI integrieren lässt.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F2C69BA-533D-A3B8-C7F3-65B3F0765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0" y="2813112"/>
            <a:ext cx="2124744" cy="110466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8E4C443-5B06-4B51-F85E-2795587982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426"/>
          <a:stretch>
            <a:fillRect/>
          </a:stretch>
        </p:blipFill>
        <p:spPr>
          <a:xfrm>
            <a:off x="9109122" y="2848352"/>
            <a:ext cx="2662417" cy="3417480"/>
          </a:xfrm>
          <a:prstGeom prst="rect">
            <a:avLst/>
          </a:prstGeom>
        </p:spPr>
      </p:pic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430C07CD-2D95-E59C-E131-A78AA44D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55005-BF0F-49E0-AFD2-47796BB70C82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EACB487-1807-CDB5-3333-FC6F570E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4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F85A294-6352-275E-674D-0D89C8396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7540" y="2899743"/>
            <a:ext cx="6093949" cy="332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4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70BF6-FB35-A95E-21FB-2796A699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790268A-2519-DBE2-5836-9224B3F350D2}"/>
              </a:ext>
            </a:extLst>
          </p:cNvPr>
          <p:cNvSpPr/>
          <p:nvPr/>
        </p:nvSpPr>
        <p:spPr>
          <a:xfrm>
            <a:off x="4188" y="38518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A063681-AADF-99AE-F959-BC9C180E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49089CC1-6BB7-0FA0-975C-4A345A0B8533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BB6336-A53A-2B7A-CA1B-8463372CE6F3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9725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AWS S3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973FC9-8C17-F2E0-860B-1CABEA9FC8DB}"/>
              </a:ext>
            </a:extLst>
          </p:cNvPr>
          <p:cNvSpPr txBox="1">
            <a:spLocks/>
          </p:cNvSpPr>
          <p:nvPr/>
        </p:nvSpPr>
        <p:spPr>
          <a:xfrm>
            <a:off x="110534" y="1324049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Zentrale Datenablage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Trennung von Speicherung &amp; Analyse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Grundlage für BI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DEC4EAB-1B9A-FFF4-11F1-E0102CCB9066}"/>
              </a:ext>
            </a:extLst>
          </p:cNvPr>
          <p:cNvSpPr txBox="1"/>
          <p:nvPr/>
        </p:nvSpPr>
        <p:spPr>
          <a:xfrm>
            <a:off x="2758136" y="1231712"/>
            <a:ext cx="88681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Hier sieht man den technischen Kern meiner Datenpipeline. Die </a:t>
            </a:r>
            <a:r>
              <a:rPr lang="de-DE" dirty="0" err="1"/>
              <a:t>Streamlit</a:t>
            </a:r>
            <a:r>
              <a:rPr lang="de-DE" dirty="0"/>
              <a:t>-App erzeugt aus den erfassten Zeiten eine CSV-Datei und speichert diese automatisiert in einem AWS-S3-Bucket.</a:t>
            </a:r>
          </a:p>
          <a:p>
            <a:r>
              <a:rPr lang="de-DE" dirty="0"/>
              <a:t>Amazon S3 dient als Data Lake zur Speicherung der Rohdaten im CSV-Format und bildet die Grundlage für die spätere Analyse in Power BI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7C85FE0-2E07-F213-3FE9-8E1CB9E69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566" y="4186368"/>
            <a:ext cx="8112523" cy="224282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25E968E-8E63-F3F4-908F-76BFFF74E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42" y="2884513"/>
            <a:ext cx="1808019" cy="1143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66076169-CE5A-92F4-2C29-ADC829F3BA7F}"/>
              </a:ext>
            </a:extLst>
          </p:cNvPr>
          <p:cNvSpPr txBox="1"/>
          <p:nvPr/>
        </p:nvSpPr>
        <p:spPr>
          <a:xfrm>
            <a:off x="6443603" y="2852032"/>
            <a:ext cx="29670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000" dirty="0"/>
              <a:t>Warum nicht direkt Power BI?</a:t>
            </a:r>
          </a:p>
          <a:p>
            <a:pPr>
              <a:buNone/>
            </a:pPr>
            <a:endParaRPr lang="de-DE" sz="1000" dirty="0"/>
          </a:p>
          <a:p>
            <a:pPr>
              <a:buNone/>
            </a:pPr>
            <a:r>
              <a:rPr lang="de-DE" sz="1000" dirty="0"/>
              <a:t>S3 sorgt dafür, dass die Datenspeicherung von der Visualisierung</a:t>
            </a:r>
          </a:p>
          <a:p>
            <a:pPr>
              <a:buNone/>
            </a:pPr>
            <a:r>
              <a:rPr lang="de-DE" sz="1000" dirty="0"/>
              <a:t> getrennt ist – das ist robuster und näher an realen Datenpipelines.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B928BA8-8834-6D98-4749-E8B363D23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566" y="2827185"/>
            <a:ext cx="2715611" cy="120032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2E6221-19DA-FD7F-1EF8-9F1C1939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3F0AE-8C44-4559-8337-27321B509343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66C9321-4AA7-6F8F-0C2B-4962E5D7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973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AF25A-1615-6661-D0C8-44FED0A1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1BBA55E-E2E1-3E6C-70ED-71B0DDF93BC1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ABBB5EA-52E7-AA03-5134-AA9778EF1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B27A332-909F-772A-C257-5299C1B3AE61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2408D9-D1B2-1DC7-5BD6-29DE17D6882A}"/>
              </a:ext>
            </a:extLst>
          </p:cNvPr>
          <p:cNvSpPr txBox="1">
            <a:spLocks/>
          </p:cNvSpPr>
          <p:nvPr/>
        </p:nvSpPr>
        <p:spPr>
          <a:xfrm>
            <a:off x="3159890" y="47118"/>
            <a:ext cx="8229600" cy="8164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AWS </a:t>
            </a:r>
            <a:r>
              <a:rPr lang="de-DE" sz="5400" dirty="0" err="1"/>
              <a:t>Glue</a:t>
            </a:r>
            <a:endParaRPr lang="de-DE" sz="5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01856B-2FFF-EBA3-2E90-3732B22305C2}"/>
              </a:ext>
            </a:extLst>
          </p:cNvPr>
          <p:cNvSpPr txBox="1">
            <a:spLocks/>
          </p:cNvSpPr>
          <p:nvPr/>
        </p:nvSpPr>
        <p:spPr>
          <a:xfrm>
            <a:off x="110534" y="958725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Glue: Schema-Erkennung, Metadatenverwaltung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Athena: SQL-Abfragen auf CSV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B32CAE8-9C20-931C-9C6A-86C503F814AA}"/>
              </a:ext>
            </a:extLst>
          </p:cNvPr>
          <p:cNvSpPr txBox="1"/>
          <p:nvPr/>
        </p:nvSpPr>
        <p:spPr>
          <a:xfrm>
            <a:off x="2891128" y="901862"/>
            <a:ext cx="83679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AWS </a:t>
            </a:r>
            <a:r>
              <a:rPr lang="de-DE" dirty="0" err="1"/>
              <a:t>Glue</a:t>
            </a:r>
            <a:r>
              <a:rPr lang="de-DE" dirty="0"/>
              <a:t> erkennt automatisch die Struktur der Daten. Athena erlaubt mir dann, mit SQL direkt auf den CSV-Dateien zu arbeiten – ohne eine klassische Datenbank zu betreiben.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B4818C4-0F53-4381-4057-B4D7002DC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095" b="13292"/>
          <a:stretch>
            <a:fillRect/>
          </a:stretch>
        </p:blipFill>
        <p:spPr>
          <a:xfrm>
            <a:off x="3602547" y="2022059"/>
            <a:ext cx="2303219" cy="11825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78E3054-46AF-7B89-AA54-2C51872466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t="700" r="51701" b="24358"/>
          <a:stretch>
            <a:fillRect/>
          </a:stretch>
        </p:blipFill>
        <p:spPr>
          <a:xfrm>
            <a:off x="3636104" y="4820220"/>
            <a:ext cx="2303219" cy="134694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5A8E618-7100-8A95-6B0D-6FE558C743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1996" b="26082"/>
          <a:stretch>
            <a:fillRect/>
          </a:stretch>
        </p:blipFill>
        <p:spPr>
          <a:xfrm>
            <a:off x="2959459" y="3326143"/>
            <a:ext cx="2303219" cy="128152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2BBB0DE-9750-75D4-B455-8BF7D7AA74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839" y="2876127"/>
            <a:ext cx="2079532" cy="98078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06ABA08-7E52-3585-AA1D-950202E12C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5080" y="2010138"/>
            <a:ext cx="4973612" cy="422508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7C88587-522F-69B9-17C0-0152E0778454}"/>
              </a:ext>
            </a:extLst>
          </p:cNvPr>
          <p:cNvSpPr txBox="1"/>
          <p:nvPr/>
        </p:nvSpPr>
        <p:spPr>
          <a:xfrm>
            <a:off x="3117438" y="2425538"/>
            <a:ext cx="289421" cy="2616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dirty="0"/>
              <a:t>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FDE5B3E-2A6B-9DA1-AED2-3F99B9F58217}"/>
              </a:ext>
            </a:extLst>
          </p:cNvPr>
          <p:cNvSpPr txBox="1"/>
          <p:nvPr/>
        </p:nvSpPr>
        <p:spPr>
          <a:xfrm>
            <a:off x="5572809" y="3829161"/>
            <a:ext cx="289421" cy="2616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dirty="0"/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531AD10-E7A4-C532-52B0-E4A7E0D228BD}"/>
              </a:ext>
            </a:extLst>
          </p:cNvPr>
          <p:cNvSpPr txBox="1"/>
          <p:nvPr/>
        </p:nvSpPr>
        <p:spPr>
          <a:xfrm>
            <a:off x="3040273" y="5493693"/>
            <a:ext cx="289421" cy="2616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dirty="0"/>
              <a:t>3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28712AC-EBB2-7371-4004-C87D1F72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375B-2679-40AB-B376-96FB5AB5716B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E2F068B-581D-7AD9-EC13-D227668F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6</a:t>
            </a:fld>
            <a:endParaRPr lang="de-D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46408082-6221-D8D7-4968-D5AE125261EF}"/>
                  </a:ext>
                </a:extLst>
              </p14:cNvPr>
              <p14:cNvContentPartPr/>
              <p14:nvPr/>
            </p14:nvContentPartPr>
            <p14:xfrm>
              <a:off x="8883669" y="5073591"/>
              <a:ext cx="721478" cy="1222196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46408082-6221-D8D7-4968-D5AE125261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65668" y="5055591"/>
                <a:ext cx="757120" cy="1257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8011FBCB-E31F-C874-C548-5C3640DC5BC3}"/>
                  </a:ext>
                </a:extLst>
              </p14:cNvPr>
              <p14:cNvContentPartPr/>
              <p14:nvPr/>
            </p14:nvContentPartPr>
            <p14:xfrm>
              <a:off x="9944937" y="6235223"/>
              <a:ext cx="360" cy="216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8011FBCB-E31F-C874-C548-5C3640DC5BC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27297" y="6217583"/>
                <a:ext cx="36000" cy="3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646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738BC-F133-05C5-9612-4EC1E0312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C32A8FA2-E1CE-252F-8CC2-31B949AD65CD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7DB76C1-6958-641A-B106-EBB9C799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3FED754-A7D1-5F72-C584-EAF9482F0499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0B7876-AE8E-FE3D-B458-AAB0BB4427CA}"/>
              </a:ext>
            </a:extLst>
          </p:cNvPr>
          <p:cNvSpPr txBox="1">
            <a:spLocks/>
          </p:cNvSpPr>
          <p:nvPr/>
        </p:nvSpPr>
        <p:spPr>
          <a:xfrm>
            <a:off x="3092093" y="16926"/>
            <a:ext cx="8229600" cy="954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AWS Athena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009E88-C06F-48A3-7A14-01A610813FE7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Glue: Schema-Erkennung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Athena: SQL-Abfragen auf CSV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6BE1BD12-CCF2-1926-014F-273B51CFA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88" y="2733442"/>
            <a:ext cx="2087383" cy="984484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46D83BC6-105E-938E-D849-D2972320F082}"/>
              </a:ext>
            </a:extLst>
          </p:cNvPr>
          <p:cNvSpPr txBox="1"/>
          <p:nvPr/>
        </p:nvSpPr>
        <p:spPr>
          <a:xfrm>
            <a:off x="3092093" y="1325871"/>
            <a:ext cx="848709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Athena erlaubt SQL-Abfragen direkt auf S3-Daten. Keine eigene Datenbank nötig.</a:t>
            </a:r>
          </a:p>
          <a:p>
            <a:r>
              <a:rPr lang="de-DE" dirty="0"/>
              <a:t>Ideal für Analyse, Aggregationen und Reporting. Power BI kann direkt über den</a:t>
            </a:r>
          </a:p>
          <a:p>
            <a:r>
              <a:rPr lang="de-DE" dirty="0"/>
              <a:t>Athena-Connector angebunden werden.</a:t>
            </a:r>
          </a:p>
          <a:p>
            <a:r>
              <a:rPr lang="de-DE" dirty="0"/>
              <a:t>Athena ist die Analyse-Engine für meine Zeiterfassungsdaten.</a:t>
            </a:r>
          </a:p>
          <a:p>
            <a:endParaRPr lang="de-DE" sz="1000" i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B5D22E-408B-04BD-EA60-AF98AF01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4FEC-F390-4E07-A29F-182ED0C911E3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D5D617AF-8B39-AC43-15AB-6767EF19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7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DBD01BB-6075-5F43-39FC-7174055D0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107" y="2628901"/>
            <a:ext cx="3913893" cy="392455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4AF62DCF-37CD-7C61-9B5D-D712CD73215E}"/>
              </a:ext>
            </a:extLst>
          </p:cNvPr>
          <p:cNvSpPr txBox="1"/>
          <p:nvPr/>
        </p:nvSpPr>
        <p:spPr>
          <a:xfrm>
            <a:off x="7496774" y="2622552"/>
            <a:ext cx="369763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Darf man Athena direkt mit S3 verbinden?</a:t>
            </a:r>
            <a:r>
              <a:rPr lang="de-DE" sz="10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Ja.</a:t>
            </a:r>
          </a:p>
          <a:p>
            <a:b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Aber nur, wenn es einen </a:t>
            </a:r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Catalog gibt.</a:t>
            </a:r>
          </a:p>
          <a:p>
            <a:endParaRPr lang="de-DE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Wichtig: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Athena liest Daten aus S3</a:t>
            </a:r>
            <a:endParaRPr lang="de-DE" sz="1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Aber Athena braucht eine Tabellenbeschreibung</a:t>
            </a:r>
            <a:b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Diese Tabellenbeschreibung kommt aus AWS </a:t>
            </a:r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Catalog</a:t>
            </a:r>
            <a:b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e-DE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Ohne </a:t>
            </a:r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weiß Athena nicht: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Welche Spalten existieren?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Welcher Datentyp?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Welches Trennzeichen?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Ist es CSV oder JSON?</a:t>
            </a:r>
            <a:b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e-DE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Warum braucht man </a:t>
            </a:r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generell?</a:t>
            </a:r>
          </a:p>
          <a:p>
            <a:r>
              <a:rPr lang="de-DE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Glue</a:t>
            </a: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wird genutzt für: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Schema-Erkennung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Metadatenverwaltung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Datenaufbereitung (ETL)</a:t>
            </a:r>
          </a:p>
          <a:p>
            <a:pPr marL="17145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de-DE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Strukturierung von Data Lakes</a:t>
            </a:r>
          </a:p>
        </p:txBody>
      </p:sp>
    </p:spTree>
    <p:extLst>
      <p:ext uri="{BB962C8B-B14F-4D97-AF65-F5344CB8AC3E}">
        <p14:creationId xmlns:p14="http://schemas.microsoft.com/office/powerpoint/2010/main" val="424601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728C8-8E6A-80C3-9320-D15EBE81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23DACD0-BD13-C4EB-0455-C49CEEE440D7}"/>
              </a:ext>
            </a:extLst>
          </p:cNvPr>
          <p:cNvSpPr/>
          <p:nvPr/>
        </p:nvSpPr>
        <p:spPr>
          <a:xfrm>
            <a:off x="0" y="3301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B4F7FD9-8AA9-BBAA-5277-BEF82A25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1C048C8-A451-E7E2-7300-ED18A0CEC3FB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4C74E8-1B2F-ACED-309D-29E79FEB2139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9033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Gesamtarchitektur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25F49B-A744-562B-0AF7-9E71392A7BBC}"/>
              </a:ext>
            </a:extLst>
          </p:cNvPr>
          <p:cNvSpPr txBox="1">
            <a:spLocks/>
          </p:cNvSpPr>
          <p:nvPr/>
        </p:nvSpPr>
        <p:spPr>
          <a:xfrm>
            <a:off x="171719" y="1096940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Streamlit → CSV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AWS S3 → Data Lake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Glue &amp; Athena → Struktur &amp; Abfragen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Power BI → Dashboard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8C7D164-B013-9223-3987-1CD8CB6A3D92}"/>
              </a:ext>
            </a:extLst>
          </p:cNvPr>
          <p:cNvSpPr txBox="1"/>
          <p:nvPr/>
        </p:nvSpPr>
        <p:spPr>
          <a:xfrm>
            <a:off x="3206029" y="1042715"/>
            <a:ext cx="7893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Architektur-Design-Prinzipien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Trennung von Storage und 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Serverlose Architektur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Automatische Schema-Erkennung über </a:t>
            </a:r>
            <a:r>
              <a:rPr lang="de-DE" dirty="0" err="1"/>
              <a:t>Glue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SQL-basierte Analyseebene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BI-Visualisierung als Reporting-Layer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209D99B-F0EC-FC67-E385-FA3673421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04"/>
          <a:stretch>
            <a:fillRect/>
          </a:stretch>
        </p:blipFill>
        <p:spPr>
          <a:xfrm>
            <a:off x="3092093" y="3074999"/>
            <a:ext cx="5548401" cy="300339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8D7ACA-C310-49F8-8182-CDC2866A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E982-F072-4477-895A-D7C8435FFFCC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189379C-DC34-458F-5B28-91B27729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8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19F504C-9C04-7332-F22F-BA7517828EAD}"/>
              </a:ext>
            </a:extLst>
          </p:cNvPr>
          <p:cNvSpPr txBox="1"/>
          <p:nvPr/>
        </p:nvSpPr>
        <p:spPr>
          <a:xfrm>
            <a:off x="8852022" y="3000277"/>
            <a:ext cx="240418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</a:t>
            </a:r>
            <a:r>
              <a:rPr lang="de-DE" sz="1000" dirty="0"/>
              <a:t>Probleme: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IAM-Berechtigung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Zusammenspiel der einzelnen AWS-Komponenten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Power BI konnte nicht direkt auf Athena zugreifen.</a:t>
            </a:r>
            <a:br>
              <a:rPr lang="de-DE" sz="1000" dirty="0"/>
            </a:br>
            <a:r>
              <a:rPr lang="de-DE" sz="1000" dirty="0"/>
              <a:t>Ich musste zuerst einen ODBC-Treiber installieren – in meinem Fall den Simba Athena ODBC Driver.</a:t>
            </a:r>
            <a:br>
              <a:rPr lang="de-DE" sz="1000" dirty="0"/>
            </a:br>
            <a:r>
              <a:rPr lang="de-DE" sz="1000" dirty="0"/>
              <a:t>Dieser Treiber funktioniert wie eine Schnittstelle zwischen Power BI und AWS.</a:t>
            </a:r>
            <a:br>
              <a:rPr lang="de-DE" sz="1000" dirty="0"/>
            </a:br>
            <a:r>
              <a:rPr lang="de-DE" sz="1000" dirty="0"/>
              <a:t>Erst danach konnte ich eine Verbindung herstellen und SQL-Abfragen ausführen.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A499A62-77AC-4DF2-C5AC-AE51DF0686F8}"/>
              </a:ext>
            </a:extLst>
          </p:cNvPr>
          <p:cNvSpPr/>
          <p:nvPr/>
        </p:nvSpPr>
        <p:spPr>
          <a:xfrm>
            <a:off x="3581400" y="5524045"/>
            <a:ext cx="4385807" cy="16498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589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3617C-3741-19B3-D8F0-1C9D0F208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7B8591C-7D72-2579-0138-630846BFCFAC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43A3368-B32A-F5C9-FD3D-C4A10D8C0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116D7F3-48C4-993F-2C92-4C4B8896DF5E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DD3378-870A-691E-6BD8-76AA1BB54D31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9956CC-6CCA-7136-5B7E-1C561F950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5126" y="160236"/>
            <a:ext cx="9358604" cy="1018216"/>
          </a:xfrm>
        </p:spPr>
        <p:txBody>
          <a:bodyPr>
            <a:noAutofit/>
          </a:bodyPr>
          <a:lstStyle/>
          <a:p>
            <a:r>
              <a:rPr lang="de-DE" sz="5400" dirty="0" err="1"/>
              <a:t>PowerQuery</a:t>
            </a:r>
            <a:r>
              <a:rPr lang="de-DE" sz="5400" dirty="0"/>
              <a:t>/Datenbereinigung</a:t>
            </a:r>
            <a:endParaRPr sz="5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F97199-057A-B771-E627-13FAF87600B1}"/>
              </a:ext>
            </a:extLst>
          </p:cNvPr>
          <p:cNvSpPr txBox="1">
            <a:spLocks/>
          </p:cNvSpPr>
          <p:nvPr/>
        </p:nvSpPr>
        <p:spPr>
          <a:xfrm>
            <a:off x="-27636" y="1493069"/>
            <a:ext cx="2310558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Rohdaten aus CSV (AWS S3 / Athena)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Daten nicht sofort analysefähig für Power BI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Unterschiedliche Formate und Schreibweisen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048A145-6A64-93A5-29AE-6EC9A4562483}"/>
              </a:ext>
            </a:extLst>
          </p:cNvPr>
          <p:cNvSpPr txBox="1"/>
          <p:nvPr/>
        </p:nvSpPr>
        <p:spPr>
          <a:xfrm>
            <a:off x="2861806" y="2452072"/>
            <a:ext cx="84919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/>
              <a:t>Aufgetretene Probleme: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Inkonsistente Textwerte z. B. </a:t>
            </a:r>
            <a:r>
              <a:rPr lang="de-DE" i="1" dirty="0"/>
              <a:t>„Projekt“</a:t>
            </a:r>
            <a:r>
              <a:rPr lang="de-DE" dirty="0"/>
              <a:t> vs. </a:t>
            </a:r>
            <a:r>
              <a:rPr lang="de-DE" i="1" dirty="0"/>
              <a:t>„PROJEKT“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Zeitspalten im Textformat (z. B. „10:30“)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Redundante Spalten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Dezimalzahlen im deutschen Format (Komma statt Punkt)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Fehlerhafte Einträge (NULL für </a:t>
            </a:r>
            <a:r>
              <a:rPr lang="de-DE" dirty="0" err="1"/>
              <a:t>KursID</a:t>
            </a:r>
            <a:r>
              <a:rPr lang="de-DE" dirty="0"/>
              <a:t> Werte im Oktober)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Doppelte Einträge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DF279A5-31A6-B9F7-6D65-6C37A8FC7E1B}"/>
              </a:ext>
            </a:extLst>
          </p:cNvPr>
          <p:cNvSpPr txBox="1"/>
          <p:nvPr/>
        </p:nvSpPr>
        <p:spPr>
          <a:xfrm>
            <a:off x="2861806" y="4935359"/>
            <a:ext cx="88826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/>
              <a:t> Lösungen in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Textbereinigung (Groß-/Kleinschreibung vereinheitlicht)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Umwandlung von Text → Datum / Uhrzeit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Duplikaten entfernen</a:t>
            </a:r>
          </a:p>
          <a:p>
            <a:endParaRPr lang="de-DE" b="1" dirty="0">
              <a:solidFill>
                <a:srgbClr val="007FFF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CBA4E9E-86A5-0811-EC64-99DF70F8BE17}"/>
              </a:ext>
            </a:extLst>
          </p:cNvPr>
          <p:cNvSpPr txBox="1"/>
          <p:nvPr/>
        </p:nvSpPr>
        <p:spPr>
          <a:xfrm>
            <a:off x="2822127" y="1454360"/>
            <a:ext cx="91096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/>
              <a:t>Ausgangstabelle:	S3_Zeiterfassung</a:t>
            </a:r>
            <a:br>
              <a:rPr lang="de-DE" dirty="0"/>
            </a:br>
            <a:r>
              <a:rPr lang="de-DE" dirty="0"/>
              <a:t>→ zentrale </a:t>
            </a:r>
            <a:r>
              <a:rPr lang="de-DE" b="1" dirty="0"/>
              <a:t>Faktentabelle</a:t>
            </a:r>
            <a:r>
              <a:rPr lang="de-DE" dirty="0"/>
              <a:t> mit allen Rohdaten (Datum, </a:t>
            </a:r>
            <a:r>
              <a:rPr lang="de-DE" dirty="0" err="1"/>
              <a:t>Kursname</a:t>
            </a:r>
            <a:r>
              <a:rPr lang="de-DE" dirty="0"/>
              <a:t>, </a:t>
            </a:r>
            <a:r>
              <a:rPr lang="de-DE" dirty="0" err="1"/>
              <a:t>Lernart</a:t>
            </a:r>
            <a:r>
              <a:rPr lang="de-DE" dirty="0"/>
              <a:t>, Zeiten, Dauer)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3C3A84-B35F-A698-D108-D1AD7E31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7F95D-CDB2-43CB-B9DA-9ACCF216CC99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4BB0CA3-506D-DACE-DEB7-77E18906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9</a:t>
            </a:fld>
            <a:endParaRPr lang="de-D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88399BE7-8A38-150C-7876-2FC827C6C6A2}"/>
                  </a:ext>
                </a:extLst>
              </p14:cNvPr>
              <p14:cNvContentPartPr/>
              <p14:nvPr/>
            </p14:nvContentPartPr>
            <p14:xfrm>
              <a:off x="3900537" y="1493069"/>
              <a:ext cx="360" cy="36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88399BE7-8A38-150C-7876-2FC827C6C6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2897" y="1475069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8547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949BA-DCBD-1C38-D418-673F6BFC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2B0250B-502B-0520-B2CD-AC4DB0FE5168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DF4C678-4F15-8FD1-1E74-9C910A35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029E948-CE38-AB70-FD4E-E998BC261B48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BEA3FE-3A08-C7E0-29D4-67071FDDEBA9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3794ED-5650-ED20-34E0-62FF0C098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5126" y="107345"/>
            <a:ext cx="9326340" cy="939082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PowerQuery</a:t>
            </a:r>
            <a:r>
              <a:rPr lang="de-DE" dirty="0"/>
              <a:t>/</a:t>
            </a:r>
            <a:r>
              <a:rPr lang="de-DE" dirty="0" err="1"/>
              <a:t>Datenmodelierung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F5F88A-5B75-D274-DDA7-8558FDB89B80}"/>
              </a:ext>
            </a:extLst>
          </p:cNvPr>
          <p:cNvSpPr txBox="1">
            <a:spLocks/>
          </p:cNvSpPr>
          <p:nvPr/>
        </p:nvSpPr>
        <p:spPr>
          <a:xfrm>
            <a:off x="-2" y="1350508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Keine redundanten Textwerte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Konsistente Schreibweise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Fakten messen, Dimensionen beschreiben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30A3322-6AFF-4137-6911-7E3B3C0FE13D}"/>
              </a:ext>
            </a:extLst>
          </p:cNvPr>
          <p:cNvSpPr txBox="1"/>
          <p:nvPr/>
        </p:nvSpPr>
        <p:spPr>
          <a:xfrm>
            <a:off x="2966856" y="1263568"/>
            <a:ext cx="76607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Dimensionen  „</a:t>
            </a:r>
            <a:r>
              <a:rPr lang="de-DE" b="1" dirty="0" err="1"/>
              <a:t>Lernart</a:t>
            </a:r>
            <a:r>
              <a:rPr lang="de-DE" b="1" dirty="0"/>
              <a:t>“ und „Kurs“ erstellen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Tabelle duplizieren: </a:t>
            </a:r>
            <a:r>
              <a:rPr lang="de-DE" dirty="0">
                <a:latin typeface="Courier New" panose="02070309020205020404" pitchFamily="49" charset="0"/>
              </a:rPr>
              <a:t>S3_Zeiterfassung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Umbenennen: </a:t>
            </a:r>
            <a:r>
              <a:rPr lang="de-DE" dirty="0" err="1">
                <a:latin typeface="Courier New" panose="02070309020205020404" pitchFamily="49" charset="0"/>
              </a:rPr>
              <a:t>Dim_Lernart</a:t>
            </a:r>
            <a:r>
              <a:rPr lang="de-DE" dirty="0">
                <a:latin typeface="Courier New" panose="02070309020205020404" pitchFamily="49" charset="0"/>
              </a:rPr>
              <a:t>/</a:t>
            </a:r>
            <a:r>
              <a:rPr lang="de-DE" dirty="0" err="1">
                <a:latin typeface="Courier New" panose="02070309020205020404" pitchFamily="49" charset="0"/>
              </a:rPr>
              <a:t>Dim_Kurs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Spaltenreduktion : Alle Spalten löschen außer </a:t>
            </a:r>
            <a:r>
              <a:rPr lang="de-DE" dirty="0" err="1">
                <a:latin typeface="Courier New" panose="02070309020205020404" pitchFamily="49" charset="0"/>
              </a:rPr>
              <a:t>Lernart</a:t>
            </a:r>
            <a:r>
              <a:rPr lang="de-DE" dirty="0">
                <a:latin typeface="Courier New" panose="02070309020205020404" pitchFamily="49" charset="0"/>
              </a:rPr>
              <a:t>/Kurs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Duplikate entfernen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ID erstellen</a:t>
            </a:r>
          </a:p>
          <a:p>
            <a:endParaRPr lang="de-DE" b="1" dirty="0"/>
          </a:p>
          <a:p>
            <a:r>
              <a:rPr lang="de-DE" dirty="0"/>
              <a:t>Ergebnis: saubere Dimensionstabelle Lernarten und Kursen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D52BB87-698E-E552-9018-065D67452E87}"/>
              </a:ext>
            </a:extLst>
          </p:cNvPr>
          <p:cNvSpPr txBox="1"/>
          <p:nvPr/>
        </p:nvSpPr>
        <p:spPr>
          <a:xfrm>
            <a:off x="2966856" y="3771027"/>
            <a:ext cx="61140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/>
              <a:t>Faktentabelle normalisieren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 S3_Zeiterfassung: </a:t>
            </a:r>
            <a:r>
              <a:rPr lang="de-DE" dirty="0" err="1"/>
              <a:t>Join</a:t>
            </a:r>
            <a:r>
              <a:rPr lang="de-DE" dirty="0"/>
              <a:t> (</a:t>
            </a:r>
            <a:r>
              <a:rPr lang="de-DE" dirty="0" err="1"/>
              <a:t>Merge</a:t>
            </a:r>
            <a:r>
              <a:rPr lang="de-DE" dirty="0"/>
              <a:t> </a:t>
            </a:r>
            <a:r>
              <a:rPr lang="de-DE" dirty="0" err="1"/>
              <a:t>Queries</a:t>
            </a:r>
            <a:r>
              <a:rPr lang="de-DE" dirty="0"/>
              <a:t>) mit:</a:t>
            </a:r>
          </a:p>
          <a:p>
            <a:pPr lvl="2"/>
            <a:r>
              <a:rPr lang="de-DE" dirty="0" err="1">
                <a:latin typeface="Courier New" panose="02070309020205020404" pitchFamily="49" charset="0"/>
              </a:rPr>
              <a:t>Dim_Lernart</a:t>
            </a:r>
            <a:r>
              <a:rPr lang="de-DE" dirty="0"/>
              <a:t> → über </a:t>
            </a:r>
            <a:r>
              <a:rPr lang="de-DE" dirty="0" err="1"/>
              <a:t>Lernart</a:t>
            </a:r>
            <a:endParaRPr lang="de-DE" dirty="0"/>
          </a:p>
          <a:p>
            <a:pPr lvl="2"/>
            <a:r>
              <a:rPr lang="de-DE" dirty="0" err="1">
                <a:latin typeface="Courier New" panose="02070309020205020404" pitchFamily="49" charset="0"/>
              </a:rPr>
              <a:t>Dim_Kurs</a:t>
            </a:r>
            <a:r>
              <a:rPr lang="de-DE" dirty="0"/>
              <a:t> → über </a:t>
            </a:r>
            <a:r>
              <a:rPr lang="de-DE" dirty="0" err="1"/>
              <a:t>Kursname</a:t>
            </a:r>
            <a:endParaRPr lang="de-DE" dirty="0"/>
          </a:p>
          <a:p>
            <a:r>
              <a:rPr lang="de-DE" dirty="0"/>
              <a:t>Nach dem </a:t>
            </a:r>
            <a:r>
              <a:rPr lang="de-DE" dirty="0" err="1"/>
              <a:t>Join</a:t>
            </a:r>
            <a:r>
              <a:rPr lang="de-DE" dirty="0"/>
              <a:t>:</a:t>
            </a:r>
          </a:p>
          <a:p>
            <a:pPr lvl="2"/>
            <a:r>
              <a:rPr lang="de-DE" dirty="0"/>
              <a:t>Nur die ID-Spalten behalten</a:t>
            </a:r>
          </a:p>
          <a:p>
            <a:pPr lvl="2"/>
            <a:r>
              <a:rPr lang="de-DE" dirty="0"/>
              <a:t>Textspalten (</a:t>
            </a:r>
            <a:r>
              <a:rPr lang="de-DE" dirty="0" err="1">
                <a:latin typeface="Courier New" panose="02070309020205020404" pitchFamily="49" charset="0"/>
              </a:rPr>
              <a:t>Lernart</a:t>
            </a:r>
            <a:r>
              <a:rPr lang="de-DE" dirty="0"/>
              <a:t>, </a:t>
            </a:r>
            <a:r>
              <a:rPr lang="de-DE" dirty="0" err="1">
                <a:latin typeface="Courier New" panose="02070309020205020404" pitchFamily="49" charset="0"/>
              </a:rPr>
              <a:t>Kursname</a:t>
            </a:r>
            <a:r>
              <a:rPr lang="de-DE" dirty="0"/>
              <a:t>) entfernen</a:t>
            </a:r>
          </a:p>
          <a:p>
            <a:pPr lvl="1"/>
            <a:endParaRPr lang="de-DE" dirty="0"/>
          </a:p>
          <a:p>
            <a:pPr>
              <a:buNone/>
            </a:pPr>
            <a:r>
              <a:rPr lang="de-DE" dirty="0"/>
              <a:t> Faktentabelle enthält nur noch Fremdschlüssel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16BBFA-FA02-8E9A-1EF2-26E939B3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3DA5-54D3-4F4D-9561-E75639B2B3BA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95CE76B-34B9-E3ED-D128-A0AE3A2D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702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6BEB2-962B-05B6-02D4-F2A3375E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C525825-8689-D804-25A2-69C79D9EA3BC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C156F4D-C02F-AFE6-9325-70D170BD7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D742B39-FB62-3494-F1EE-28067F9D335F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EE1D2C-C45C-B5FA-0A5D-45D8CBA46D2B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A072BD-941D-A2F6-C39A-FAC3F8D69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5126" y="107345"/>
            <a:ext cx="9326340" cy="860844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PowerQuery</a:t>
            </a:r>
            <a:r>
              <a:rPr lang="de-DE" dirty="0"/>
              <a:t>/</a:t>
            </a:r>
            <a:r>
              <a:rPr lang="de-DE" dirty="0" err="1"/>
              <a:t>Datenmodelierung</a:t>
            </a:r>
            <a:r>
              <a:rPr lang="de-DE" dirty="0"/>
              <a:t> 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E28A7E-6A9C-5F8D-26DF-BB06C85DCE93}"/>
              </a:ext>
            </a:extLst>
          </p:cNvPr>
          <p:cNvSpPr txBox="1">
            <a:spLocks/>
          </p:cNvSpPr>
          <p:nvPr/>
        </p:nvSpPr>
        <p:spPr>
          <a:xfrm>
            <a:off x="-2" y="1350508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Keine redundanten Textwerte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Konsistente Schreibweise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Fakten messen, Dimensionen beschreiben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FF9F5BF-E55F-5147-FC22-3C8B1D585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208" y="1274051"/>
            <a:ext cx="1760673" cy="375346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9A6BF7C0-BB81-322A-21E2-3E8E8C866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126" y="4355006"/>
            <a:ext cx="2417137" cy="141365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2AF6508-879E-64EA-1109-6F75F7A16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126" y="1274051"/>
            <a:ext cx="7240027" cy="286780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0AA12D-9126-6462-F294-AFDDAA27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22476-C27B-49B2-BEA3-23DFA7813279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8AA19933-22B4-CAB6-B66C-04D3210C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407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A52A6-D8EE-AD83-981D-F5D63C93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7BA002D-D014-1038-587A-8EA77C04E276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A9DC840-5A9B-8B0F-E86A-AA4E9D5B4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45277F5-A559-BF15-9885-024D77BCE495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92A27B-6238-3C2C-237E-444144098D8D}"/>
              </a:ext>
            </a:extLst>
          </p:cNvPr>
          <p:cNvSpPr txBox="1">
            <a:spLocks/>
          </p:cNvSpPr>
          <p:nvPr/>
        </p:nvSpPr>
        <p:spPr>
          <a:xfrm>
            <a:off x="2719872" y="-1840"/>
            <a:ext cx="8229600" cy="9981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Datum- &amp; Zeittabellen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2F47F1-8683-BB94-D0C6-8B29F8DCBB4E}"/>
              </a:ext>
            </a:extLst>
          </p:cNvPr>
          <p:cNvSpPr txBox="1">
            <a:spLocks/>
          </p:cNvSpPr>
          <p:nvPr/>
        </p:nvSpPr>
        <p:spPr>
          <a:xfrm>
            <a:off x="110534" y="1495660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Saubere Struktur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Korrekte Sortierung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Bessere Auswertungen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5E4C621-C4B9-6A0D-3C39-A5EC682C2B48}"/>
              </a:ext>
            </a:extLst>
          </p:cNvPr>
          <p:cNvSpPr txBox="1"/>
          <p:nvPr/>
        </p:nvSpPr>
        <p:spPr>
          <a:xfrm>
            <a:off x="2808111" y="1404491"/>
            <a:ext cx="8282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Dimensionstabellen sorgen für Ordnung. Zeitinformationen werden nur einmal definiert, korrekt sortiert und können flexibel für Auswertungen genutzt werden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B8C93D4-D5F5-C27F-C966-B1B084E75C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635"/>
          <a:stretch>
            <a:fillRect/>
          </a:stretch>
        </p:blipFill>
        <p:spPr>
          <a:xfrm>
            <a:off x="6592482" y="2219767"/>
            <a:ext cx="5025934" cy="166938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43EE03C-166F-BA72-E5B3-4A0F97C488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0635"/>
          <a:stretch>
            <a:fillRect/>
          </a:stretch>
        </p:blipFill>
        <p:spPr>
          <a:xfrm>
            <a:off x="6595170" y="4074695"/>
            <a:ext cx="4030859" cy="209610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C583B31-0723-6ED1-DE93-15536B3394DF}"/>
              </a:ext>
            </a:extLst>
          </p:cNvPr>
          <p:cNvSpPr txBox="1"/>
          <p:nvPr/>
        </p:nvSpPr>
        <p:spPr>
          <a:xfrm>
            <a:off x="2830409" y="2255581"/>
            <a:ext cx="3633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000" b="1" dirty="0"/>
              <a:t>Warum eine </a:t>
            </a:r>
            <a:r>
              <a:rPr lang="de-DE" sz="1000" b="1" dirty="0" err="1"/>
              <a:t>Dim_Datum</a:t>
            </a:r>
            <a:r>
              <a:rPr lang="de-DE" sz="1000" b="1" dirty="0"/>
              <a:t>-Tabelle?</a:t>
            </a:r>
          </a:p>
          <a:p>
            <a:r>
              <a:rPr lang="de-DE" sz="1000" dirty="0"/>
              <a:t>Ermöglicht Auswertungen nach:</a:t>
            </a:r>
          </a:p>
          <a:p>
            <a:pPr lvl="1"/>
            <a:r>
              <a:rPr lang="de-DE" sz="1000" dirty="0"/>
              <a:t>Jahr, Monat, Kalenderwoche, </a:t>
            </a:r>
          </a:p>
          <a:p>
            <a:pPr lvl="1"/>
            <a:r>
              <a:rPr lang="de-DE" sz="1000" dirty="0"/>
              <a:t>Wochentag (korrekt sortiert, nicht alphabetisch)</a:t>
            </a:r>
          </a:p>
          <a:p>
            <a:r>
              <a:rPr lang="de-DE" sz="1000" dirty="0"/>
              <a:t>Einheitliche Zeitlogik für alle Berichte</a:t>
            </a:r>
          </a:p>
          <a:p>
            <a:r>
              <a:rPr lang="de-DE" sz="1000" dirty="0"/>
              <a:t>Vermeidet doppelte Berechnungen in jeder Visualisierung</a:t>
            </a:r>
          </a:p>
          <a:p>
            <a:endParaRPr lang="de-DE" sz="1000" dirty="0"/>
          </a:p>
          <a:p>
            <a:pPr>
              <a:buNone/>
            </a:pPr>
            <a:r>
              <a:rPr lang="de-DE" sz="1000" b="1" dirty="0"/>
              <a:t>Datum ist mehr als nur ein Wert – es ist eine Analyse-Dimension</a:t>
            </a:r>
            <a:endParaRPr lang="de-DE" sz="10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B93AB1A-9EF7-7692-0846-6723EACE74A3}"/>
              </a:ext>
            </a:extLst>
          </p:cNvPr>
          <p:cNvSpPr txBox="1"/>
          <p:nvPr/>
        </p:nvSpPr>
        <p:spPr>
          <a:xfrm>
            <a:off x="2830408" y="4353165"/>
            <a:ext cx="35948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000" b="1" dirty="0"/>
              <a:t>Warum eine </a:t>
            </a:r>
            <a:r>
              <a:rPr lang="de-DE" sz="1000" b="1" dirty="0" err="1"/>
              <a:t>Dim_Zeit</a:t>
            </a:r>
            <a:r>
              <a:rPr lang="de-DE" sz="1000" b="1" dirty="0"/>
              <a:t>-Tabelle?</a:t>
            </a:r>
          </a:p>
          <a:p>
            <a:r>
              <a:rPr lang="de-DE" sz="1000" dirty="0"/>
              <a:t>Ermöglicht:</a:t>
            </a:r>
          </a:p>
          <a:p>
            <a:pPr lvl="1"/>
            <a:r>
              <a:rPr lang="de-DE" sz="1000" dirty="0"/>
              <a:t>Analyse nach Stunde, Minute</a:t>
            </a:r>
          </a:p>
          <a:p>
            <a:pPr lvl="1"/>
            <a:r>
              <a:rPr lang="de-DE" sz="1000" dirty="0"/>
              <a:t>Tagesabschnitten (Nacht, Früher Morgen, Morgen, Nachmittag, Abend)</a:t>
            </a:r>
          </a:p>
          <a:p>
            <a:r>
              <a:rPr lang="de-DE" sz="1000" dirty="0"/>
              <a:t> Einheitliche Definition von Zeitlogik an einer Stelle</a:t>
            </a:r>
          </a:p>
          <a:p>
            <a:endParaRPr lang="de-DE" sz="1000" dirty="0"/>
          </a:p>
          <a:p>
            <a:pPr>
              <a:buNone/>
            </a:pPr>
            <a:r>
              <a:rPr lang="de-DE" sz="1000" dirty="0"/>
              <a:t> </a:t>
            </a:r>
            <a:r>
              <a:rPr lang="de-DE" sz="1000" b="1" dirty="0"/>
              <a:t>Zeit braucht Kontext, nicht nur ein Uhrzeitfeld</a:t>
            </a:r>
            <a:endParaRPr lang="de-DE" sz="10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FD7D74-0EDB-395D-B32A-66C179B4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BF1C-B724-4FD1-B86C-4B9912618C9A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1EB7E2D9-958D-3456-FC78-BB6BE3F0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3719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F1CC8-4663-A66A-BE33-9520188F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61E837D-C275-FFE5-D75C-78D5A673CC90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0D2B1D4-D412-A8A4-F667-89CE1F20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2B1B3F6-6A95-8756-FEE6-71910D2958D1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1499C7-0E0E-382A-AB76-2F47DED1D9A3}"/>
              </a:ext>
            </a:extLst>
          </p:cNvPr>
          <p:cNvSpPr txBox="1">
            <a:spLocks/>
          </p:cNvSpPr>
          <p:nvPr/>
        </p:nvSpPr>
        <p:spPr>
          <a:xfrm>
            <a:off x="2984517" y="44087"/>
            <a:ext cx="8229600" cy="8600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Datenmodell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4D6D38-CA85-4ADE-5901-E7BBC9336011}"/>
              </a:ext>
            </a:extLst>
          </p:cNvPr>
          <p:cNvSpPr txBox="1">
            <a:spLocks/>
          </p:cNvSpPr>
          <p:nvPr/>
        </p:nvSpPr>
        <p:spPr>
          <a:xfrm>
            <a:off x="221070" y="122107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Fact_Zeiterfassung</a:t>
            </a:r>
            <a:endParaRPr lang="de-DE" sz="14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Dim_Kurs</a:t>
            </a:r>
            <a:endParaRPr lang="de-DE" sz="14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Dim_Lernart</a:t>
            </a:r>
            <a:endParaRPr lang="de-DE" sz="14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Dim_Datum</a:t>
            </a:r>
            <a:endParaRPr lang="de-DE" sz="14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Dim_Zeit</a:t>
            </a:r>
            <a:endParaRPr lang="de-DE" sz="14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Star Schema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214DD61-4FF2-35ED-6921-144328EC7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212" y="2137517"/>
            <a:ext cx="5056379" cy="386999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98F8EF5-6F11-BF78-A22E-679D942132B1}"/>
              </a:ext>
            </a:extLst>
          </p:cNvPr>
          <p:cNvSpPr txBox="1"/>
          <p:nvPr/>
        </p:nvSpPr>
        <p:spPr>
          <a:xfrm>
            <a:off x="3052974" y="1142837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Für die Analyse habe ich ein sogenanntes Star Schema verwendet. Dabei gibt es eine Faktentabelle mit den Lernstunden und Dimensionstabellen für Kurs, </a:t>
            </a:r>
            <a:r>
              <a:rPr lang="de-DE" dirty="0" err="1"/>
              <a:t>Lernart</a:t>
            </a:r>
            <a:r>
              <a:rPr lang="de-DE" dirty="0"/>
              <a:t>, Datum und Zeit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72ADDD-8714-6021-8CD6-2778BB6F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C13E-96AE-40D9-8F21-125B68376A65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F6165FE7-3085-3CF6-A4B6-F0FD6769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200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0B0D2-C218-D0C7-F2B5-209FEA22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81AA4C2-C187-CADC-5DC6-7D8AD37FC7B1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72A633-A063-EA0E-0A84-F7BF1F934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252E467-0F49-A24E-8484-D6E1FE928B70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D48BB6-E37E-A50E-D63A-308010EE0427}"/>
              </a:ext>
            </a:extLst>
          </p:cNvPr>
          <p:cNvSpPr txBox="1">
            <a:spLocks/>
          </p:cNvSpPr>
          <p:nvPr/>
        </p:nvSpPr>
        <p:spPr>
          <a:xfrm>
            <a:off x="2470440" y="112830"/>
            <a:ext cx="9465657" cy="15794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Zeitliche Aufteilung von Arbeitsstunden mit DAX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91BE95-3102-E08C-1180-F489008BCCD8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de-DE" sz="1400" dirty="0">
                <a:solidFill>
                  <a:schemeClr val="bg1"/>
                </a:solidFill>
              </a:rPr>
              <a:t>Zeiteinträge → mehrere Tagesabschnitte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lvl="0" indent="-2857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de-DE" sz="1400" dirty="0">
                <a:solidFill>
                  <a:schemeClr val="bg1"/>
                </a:solidFill>
              </a:rPr>
              <a:t>Tag → 15‑Minuten‑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lvl="0" indent="-2857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de-DE" sz="1400" dirty="0">
                <a:solidFill>
                  <a:schemeClr val="bg1"/>
                </a:solidFill>
              </a:rPr>
              <a:t>Prüfen: Slot gehört zum Eintrag?</a:t>
            </a:r>
          </a:p>
          <a:p>
            <a:pPr marL="285750" lvl="0" indent="-2857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de-DE" sz="1400" dirty="0">
                <a:solidFill>
                  <a:schemeClr val="bg1"/>
                </a:solidFill>
              </a:rPr>
              <a:t>Zeiteintrag anteilig Tagesabschnitten zugeordnet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D4494EF-9E03-631A-1D4B-D84751E72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979" y="3261092"/>
            <a:ext cx="78626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dirty="0"/>
              <a:t>Ein Zeiteintrag kann mehrere Tagesabschnitte überlappen.</a:t>
            </a:r>
            <a:br>
              <a:rPr lang="de-DE" dirty="0"/>
            </a:br>
            <a:r>
              <a:rPr lang="de-DE" dirty="0"/>
              <a:t>Ich muss also prüfen, welcher Teil der Zeit in welchen Abschnitt fällt</a:t>
            </a:r>
            <a:r>
              <a:rPr lang="de-DE" b="1" dirty="0">
                <a:latin typeface="Arial" panose="020B0604020202020204" pitchFamily="34" charset="0"/>
              </a:rPr>
              <a:t>.</a:t>
            </a:r>
            <a:endParaRPr kumimoji="0" lang="de-DE" altLang="de-D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de-DE" dirty="0"/>
              <a:t>Der Tag wird in 96 Slots à 15 Minuten aufgeteilt (00:00–00:15, 00:15–00:30, …, 23:45–24:00)</a:t>
            </a:r>
          </a:p>
          <a:p>
            <a:r>
              <a:rPr lang="de-DE" dirty="0"/>
              <a:t>Jeder Slot gehört genau einem Tagesabschnitt.</a:t>
            </a:r>
          </a:p>
          <a:p>
            <a:r>
              <a:rPr lang="de-DE" dirty="0"/>
              <a:t>Beispiel: 05:00–10:00 → wird in 20 Slots unterteilt: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05–06 Uhr → Nacht 		→ 4 Slots × 0,25 h = 1 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06–09 Uhr → Früher Morgen 	→ 12 Slots × 0,25 h = 3 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09–10 Uhr → Vormittag 		→ 4 Slots × 0,25 h = 1 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35325EF5-A515-36A9-6359-B08F2571D9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259"/>
          <a:stretch>
            <a:fillRect/>
          </a:stretch>
        </p:blipFill>
        <p:spPr>
          <a:xfrm>
            <a:off x="3077026" y="1763433"/>
            <a:ext cx="3402012" cy="142646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A4BC18-F35F-287E-E29B-483D4B7D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A5462-78CF-4EE2-9A38-C1A402B150E2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09B538-CDCD-36D4-C88D-BB04A35C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14</a:t>
            </a:fld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F670BBB-9FF7-E273-8FFA-2D37BC5B2F97}"/>
              </a:ext>
            </a:extLst>
          </p:cNvPr>
          <p:cNvSpPr/>
          <p:nvPr/>
        </p:nvSpPr>
        <p:spPr>
          <a:xfrm>
            <a:off x="4166143" y="1970605"/>
            <a:ext cx="396077" cy="124642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661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D2E70-B06C-58A2-2F84-67363B79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5590B11A-E6C2-084A-88EF-3D60EC2D9640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7905FFA-AB9C-66B2-23A6-7709711F9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6480F58-8D04-9ACA-9F96-54C3EF26E5CD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5719B3-A905-B11D-45D0-834C79796790}"/>
              </a:ext>
            </a:extLst>
          </p:cNvPr>
          <p:cNvSpPr txBox="1">
            <a:spLocks/>
          </p:cNvSpPr>
          <p:nvPr/>
        </p:nvSpPr>
        <p:spPr>
          <a:xfrm>
            <a:off x="2557123" y="88712"/>
            <a:ext cx="8229600" cy="14355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Alphabetische Sortierung von Zeitfeldern mit DAX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5A99E3-7E4B-92EF-6876-5A08F24A4D70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11E6289-EE1C-AE46-9131-CC3B380FA91C}"/>
              </a:ext>
            </a:extLst>
          </p:cNvPr>
          <p:cNvSpPr txBox="1"/>
          <p:nvPr/>
        </p:nvSpPr>
        <p:spPr>
          <a:xfrm>
            <a:off x="2733813" y="1539224"/>
            <a:ext cx="87635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Problemstellung: Power BI sortiert Text standardmäßig alphabetisch.</a:t>
            </a:r>
            <a:br>
              <a:rPr lang="de-DE" dirty="0"/>
            </a:br>
            <a:r>
              <a:rPr lang="de-DE" dirty="0"/>
              <a:t>Für zeitliche Analysen ist das fachlich falsch, da Zeit eine feste Reihenfolge hat. Für die zeitliche Logik im Datenmodell wird DAX verwendet.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Beispiel: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dirty="0"/>
              <a:t> April, August, Dezember, Februar …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dirty="0"/>
              <a:t> Freitag, Montag, Samstag …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Ergebnis: </a:t>
            </a:r>
            <a:r>
              <a:rPr lang="de-DE" altLang="de-DE" b="1" dirty="0"/>
              <a:t>falsche Zeitachse</a:t>
            </a:r>
            <a:r>
              <a:rPr lang="de-DE" altLang="de-DE" dirty="0"/>
              <a:t>, irreführende Diagramme.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618309C-CDF5-F876-224C-CA84B76231E7}"/>
              </a:ext>
            </a:extLst>
          </p:cNvPr>
          <p:cNvSpPr txBox="1"/>
          <p:nvPr/>
        </p:nvSpPr>
        <p:spPr>
          <a:xfrm>
            <a:off x="2733812" y="3622449"/>
            <a:ext cx="46078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Lösung: Sortierspalten in der </a:t>
            </a:r>
            <a:r>
              <a:rPr lang="de-DE" sz="1000" dirty="0" err="1"/>
              <a:t>Dim_Datum</a:t>
            </a:r>
            <a:endParaRPr lang="de-DE" sz="1000" dirty="0"/>
          </a:p>
          <a:p>
            <a:r>
              <a:rPr lang="de-DE" sz="1000" i="1" dirty="0" err="1"/>
              <a:t>Jahr_Monat</a:t>
            </a:r>
            <a:r>
              <a:rPr lang="de-DE" sz="1000" i="1" dirty="0"/>
              <a:t> = FORMAT(</a:t>
            </a:r>
            <a:r>
              <a:rPr lang="de-DE" sz="1000" i="1" dirty="0" err="1"/>
              <a:t>Dim_Datum</a:t>
            </a:r>
            <a:r>
              <a:rPr lang="de-DE" sz="1000" i="1" dirty="0"/>
              <a:t>[Date], "YYYY-MM")</a:t>
            </a:r>
          </a:p>
          <a:p>
            <a:r>
              <a:rPr lang="en-US" sz="1000" i="1" dirty="0" err="1"/>
              <a:t>JahrMonat_Sort</a:t>
            </a:r>
            <a:r>
              <a:rPr lang="en-US" sz="1000" i="1" dirty="0"/>
              <a:t> = YEAR([Date]) * 100 + MONTH([Date])</a:t>
            </a:r>
          </a:p>
          <a:p>
            <a:r>
              <a:rPr lang="de-DE" sz="1000" dirty="0"/>
              <a:t>Power BI Einstellung:</a:t>
            </a:r>
          </a:p>
          <a:p>
            <a:r>
              <a:rPr lang="de-DE" sz="1000" dirty="0"/>
              <a:t>Spalte </a:t>
            </a:r>
            <a:r>
              <a:rPr lang="de-DE" sz="1000" dirty="0" err="1"/>
              <a:t>Jahr_Monat</a:t>
            </a:r>
            <a:endParaRPr lang="de-DE" sz="1000" dirty="0"/>
          </a:p>
          <a:p>
            <a:r>
              <a:rPr lang="de-DE" sz="1000" dirty="0"/>
              <a:t>Nach Spalte sortieren → </a:t>
            </a:r>
            <a:r>
              <a:rPr lang="de-DE" sz="1000" dirty="0" err="1"/>
              <a:t>JahrMonat_Sort</a:t>
            </a:r>
            <a:endParaRPr lang="de-DE" sz="1000" dirty="0"/>
          </a:p>
          <a:p>
            <a:endParaRPr lang="de-DE" sz="10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2E78E7A-7987-9CDE-9E8A-9D9FFA22298B}"/>
              </a:ext>
            </a:extLst>
          </p:cNvPr>
          <p:cNvSpPr txBox="1"/>
          <p:nvPr/>
        </p:nvSpPr>
        <p:spPr>
          <a:xfrm>
            <a:off x="2748973" y="4989399"/>
            <a:ext cx="295796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000" dirty="0"/>
              <a:t>Lösung: Sortierspalten in </a:t>
            </a:r>
            <a:r>
              <a:rPr lang="de-DE" sz="1000" dirty="0" err="1"/>
              <a:t>Dim_Datum</a:t>
            </a:r>
            <a:endParaRPr lang="de-DE" sz="1000" dirty="0"/>
          </a:p>
          <a:p>
            <a:pPr rtl="0"/>
            <a:r>
              <a:rPr lang="de-DE" sz="1000" i="1" dirty="0"/>
              <a:t>Wochentag = FORMAT(</a:t>
            </a:r>
            <a:r>
              <a:rPr lang="de-DE" sz="1000" i="1" dirty="0" err="1"/>
              <a:t>Dim_Datum</a:t>
            </a:r>
            <a:r>
              <a:rPr lang="de-DE" sz="1000" i="1" dirty="0"/>
              <a:t>[Date], "</a:t>
            </a:r>
            <a:r>
              <a:rPr lang="de-DE" sz="1000" i="1" dirty="0" err="1"/>
              <a:t>dddd</a:t>
            </a:r>
            <a:r>
              <a:rPr lang="de-DE" sz="1000" i="1" dirty="0"/>
              <a:t>")</a:t>
            </a:r>
          </a:p>
          <a:p>
            <a:pPr rtl="0"/>
            <a:r>
              <a:rPr lang="de-DE" sz="1000" i="1" dirty="0" err="1"/>
              <a:t>Wochentag_Nr</a:t>
            </a:r>
            <a:r>
              <a:rPr lang="de-DE" sz="1000" i="1" dirty="0"/>
              <a:t> = WEEKDAY(</a:t>
            </a:r>
            <a:r>
              <a:rPr lang="de-DE" sz="1000" i="1" dirty="0" err="1"/>
              <a:t>Dim_Datum</a:t>
            </a:r>
            <a:r>
              <a:rPr lang="de-DE" sz="1000" i="1" dirty="0"/>
              <a:t>[Date], 2)</a:t>
            </a:r>
          </a:p>
          <a:p>
            <a:r>
              <a:rPr lang="de-DE" sz="1000" i="1" dirty="0"/>
              <a:t>(Montag = 1, Sonntag = 7 – europäischer Standard)</a:t>
            </a:r>
            <a:endParaRPr lang="de-DE" sz="1000" dirty="0"/>
          </a:p>
          <a:p>
            <a:pPr>
              <a:buNone/>
            </a:pPr>
            <a:r>
              <a:rPr lang="de-DE" sz="1000" dirty="0"/>
              <a:t>Power BI Einstellung:</a:t>
            </a:r>
          </a:p>
          <a:p>
            <a:r>
              <a:rPr lang="de-DE" sz="1000" dirty="0"/>
              <a:t>Spalte Wochentag</a:t>
            </a:r>
          </a:p>
          <a:p>
            <a:r>
              <a:rPr lang="de-DE" sz="1000" dirty="0"/>
              <a:t>Nach Spalte sortieren → </a:t>
            </a:r>
            <a:r>
              <a:rPr lang="de-DE" sz="1000" dirty="0" err="1"/>
              <a:t>Wochentag_Nr</a:t>
            </a:r>
            <a:endParaRPr lang="de-DE" sz="10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4B30A09E-9AF6-9B25-CEA4-0D4DCC7FE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29890"/>
            <a:ext cx="4270460" cy="11872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BBFCFC5-C878-5768-D58C-86E6A29F7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831" y="4969401"/>
            <a:ext cx="4210673" cy="1436290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25D0564-0F76-0D96-2008-DFC2FC4C77FB}"/>
              </a:ext>
            </a:extLst>
          </p:cNvPr>
          <p:cNvSpPr txBox="1">
            <a:spLocks/>
          </p:cNvSpPr>
          <p:nvPr/>
        </p:nvSpPr>
        <p:spPr>
          <a:xfrm>
            <a:off x="76177" y="167776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Problem: alphabetische Sortierung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Lösung: Sortierspalte addieren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Nach Sortierspalte sortieren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Für die zeitliche Logik im Datenmodell wird DAX verwendet.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6F6C7A-A657-350B-2C2F-8C83D605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8573-52B6-46E2-8D09-D35637DD7B90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80E92D3-6C10-94C0-96B8-2126AEE7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965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E6E8D-A475-822D-C990-C25C29D6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8B4120D-B49A-03C2-A2E7-984ADC08AF19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F14AA43-FE95-B436-DCC7-9C95EEE6D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8161F95-5ECA-A39D-B7D4-315CBF2B4FF1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8AD077-057C-B565-80B9-99682E5592EA}"/>
              </a:ext>
            </a:extLst>
          </p:cNvPr>
          <p:cNvSpPr txBox="1">
            <a:spLocks/>
          </p:cNvSpPr>
          <p:nvPr/>
        </p:nvSpPr>
        <p:spPr>
          <a:xfrm>
            <a:off x="2544417" y="136525"/>
            <a:ext cx="9422097" cy="9455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Visuelle Darstellung mit Power BI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C70FEF-82D1-0D9B-1792-107EFDFFD9E5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Dashboards &amp; KPIs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Zeitliche Analysen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Top-Lerntage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F162C153-5DE9-6467-4615-0ED56C5B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6891A-47AD-4FFF-BC70-0F3E3F5CF2D4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3908CDD1-F08C-3D6D-2147-797835C7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16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CFD8EEC-FC62-0727-1DA0-A5423F2B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570" y="1383621"/>
            <a:ext cx="4579951" cy="253959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8590649-7309-EA12-38DB-933DEE91D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7281521" y="2996475"/>
            <a:ext cx="4422799" cy="245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35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616A3-B137-CB85-042B-EDABE888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D775AFA-3F77-94B5-24AD-6D56A5167432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9A7660B-2FBD-6F3D-553E-ACDFA968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5B97033-11B7-124D-A775-AEE517707ADE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73C13D-72F1-C58D-23CD-F10052A65E40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KPI-Dashboard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6FCF46-9E9C-5A77-5B43-B4EC0C6A1CCB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Gesamtlernzeit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Durchschnitt pro Tag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Längster Lerntag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Tagesabschnitte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B49B72A-65BF-99D2-643E-6F5F36DDBF47}"/>
              </a:ext>
            </a:extLst>
          </p:cNvPr>
          <p:cNvSpPr txBox="1"/>
          <p:nvPr/>
        </p:nvSpPr>
        <p:spPr>
          <a:xfrm>
            <a:off x="3040712" y="1434721"/>
            <a:ext cx="8393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Im KPI-Dashboard sehe ich auf einen Blick die wichtigsten Kennzahlen, zum Beispiel meine Gesamtlernzeit oder den längsten Lerntag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BF9F43-F23E-170B-B4D4-8539311C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18212-F200-4E8A-9493-6404B4EEE6C9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D79959E-0056-A698-B604-AF6C8685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17</a:t>
            </a:fld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0193C36-3BA2-C8F4-AF9C-4EC31CAD4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495" y="2229345"/>
            <a:ext cx="5973009" cy="146705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7DDFF85-8500-0FA4-14F0-23CD98BCB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495" y="4043803"/>
            <a:ext cx="3784286" cy="235201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03CA21B-B6C6-27BB-706D-D7B543AEB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181" y="4034653"/>
            <a:ext cx="3951047" cy="161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5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46EE0-D75C-E368-5939-51B02195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C2CCADB-AEE3-31AE-68CC-11DD3F695E4E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D1CB19F-C87C-A768-AD24-902CA35AC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FC40141-D84C-2983-618A-48F53BF3917C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1E10F75-1E60-6B23-0EAB-E4AB67D94BDE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Erkenntnisse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9E9E0-C683-11DC-BAC2-2E335DD002C2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Produktivste Tage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Lernverhalten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Zeitliche Muster</a:t>
            </a: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5427B6F-369D-43ED-9770-60384399607D}"/>
              </a:ext>
            </a:extLst>
          </p:cNvPr>
          <p:cNvSpPr txBox="1"/>
          <p:nvPr/>
        </p:nvSpPr>
        <p:spPr>
          <a:xfrm>
            <a:off x="3040711" y="1524244"/>
            <a:ext cx="822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Durch die Analyse erkenne ich Muster: An welchen Tagen ich am produktivsten bin, zu welchen Uhrzeiten ich lerne und wie sich meine Lernzeiten über Monate entwickeln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3CB019C-2C9E-FC6C-E176-231C26BFF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093" y="2404677"/>
            <a:ext cx="5410955" cy="373432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331AB1D-860A-D6C8-26D4-AE6B94B88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093" y="2434134"/>
            <a:ext cx="3391373" cy="145752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136CE99-114C-D53C-766D-7A8DEA998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837" y="4155222"/>
            <a:ext cx="3385629" cy="177122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16392E-1B5E-CD34-C1FF-4C7DD595E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837DD-AF79-4A77-BBDC-6A45163E350A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FECB5B53-2597-FC93-F5FF-D5CE66D2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022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796BE-FC9F-EF7E-CE58-AB787EB8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C64D5AA-0B94-196E-04EE-7C8F4C865B5F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E3A4357-925C-FEEB-1917-810D1B0FF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1EDE187-3C9A-7BE8-9992-D4719E07322C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2136E3-B840-9101-B73D-38793C06EA6B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Fazit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48C71A-B1DD-34F0-1448-95CA56F5718B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End-to-End BI-Projekt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Cloud + Analyse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Praxisnah</a:t>
            </a: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82B4FAD-F339-B29C-79F4-09D85532CF3C}"/>
              </a:ext>
            </a:extLst>
          </p:cNvPr>
          <p:cNvSpPr txBox="1"/>
          <p:nvPr/>
        </p:nvSpPr>
        <p:spPr>
          <a:xfrm>
            <a:off x="3092092" y="1524244"/>
            <a:ext cx="83180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Das Projekt demonstriert die Umsetzung einer </a:t>
            </a:r>
            <a:r>
              <a:rPr lang="de-DE" b="1" dirty="0"/>
              <a:t>End-</a:t>
            </a:r>
            <a:r>
              <a:rPr lang="de-DE" b="1" dirty="0" err="1"/>
              <a:t>to</a:t>
            </a:r>
            <a:r>
              <a:rPr lang="de-DE" b="1" dirty="0"/>
              <a:t>-End-Datenpipeline</a:t>
            </a:r>
            <a:r>
              <a:rPr lang="de-DE" dirty="0"/>
              <a:t> mit Best Practices aus Business </a:t>
            </a:r>
            <a:r>
              <a:rPr lang="de-DE" dirty="0" err="1"/>
              <a:t>Intelligence</a:t>
            </a:r>
            <a:r>
              <a:rPr lang="de-DE" dirty="0"/>
              <a:t> und Cloud-Architekturen. Ausgangspunkt war eine einfache Excel-Lösung, die zu einem professionellen System weiterentwickelt wurde.</a:t>
            </a:r>
          </a:p>
          <a:p>
            <a:r>
              <a:rPr lang="de-DE" b="1" dirty="0"/>
              <a:t>Professionelle Umsetzung durch:</a:t>
            </a:r>
            <a:endParaRPr lang="de-DE" dirty="0"/>
          </a:p>
          <a:p>
            <a:r>
              <a:rPr lang="de-DE" b="1" dirty="0"/>
              <a:t>Trennung von Datenspeicherung und Analyse:</a:t>
            </a:r>
            <a:r>
              <a:rPr lang="de-DE" dirty="0"/>
              <a:t> Daten liegen zentral in AWS S3, unabhängig von Reporting-Tools</a:t>
            </a:r>
          </a:p>
          <a:p>
            <a:r>
              <a:rPr lang="de-DE" b="1" dirty="0"/>
              <a:t>Nutzung eines Data </a:t>
            </a:r>
            <a:r>
              <a:rPr lang="de-DE" b="1" dirty="0" err="1"/>
              <a:t>Catalogs</a:t>
            </a:r>
            <a:r>
              <a:rPr lang="de-DE" b="1" dirty="0"/>
              <a:t> (AWS </a:t>
            </a:r>
            <a:r>
              <a:rPr lang="de-DE" b="1" dirty="0" err="1"/>
              <a:t>Glue</a:t>
            </a:r>
            <a:r>
              <a:rPr lang="de-DE" b="1" dirty="0"/>
              <a:t>):</a:t>
            </a:r>
            <a:r>
              <a:rPr lang="de-DE" dirty="0"/>
              <a:t> automatische Struktur- und Metadatenverwaltung für hohe Datenqualität</a:t>
            </a:r>
          </a:p>
          <a:p>
            <a:r>
              <a:rPr lang="de-DE" b="1" dirty="0"/>
              <a:t>Cloud-native Query Engine (Athena):</a:t>
            </a:r>
            <a:r>
              <a:rPr lang="de-DE" dirty="0"/>
              <a:t> Abfragen direkt auf Rohdaten ohne lokale Datenbanken</a:t>
            </a:r>
          </a:p>
          <a:p>
            <a:r>
              <a:rPr lang="de-DE" b="1" dirty="0"/>
              <a:t>Automatisierte Datenaktualisierung:</a:t>
            </a:r>
            <a:r>
              <a:rPr lang="de-DE" dirty="0"/>
              <a:t> Dashboards in Power BI aktualisieren sich automatisch ohne manuellen CSV-Export</a:t>
            </a:r>
          </a:p>
          <a:p>
            <a:r>
              <a:rPr lang="de-DE" b="1" dirty="0"/>
              <a:t>Robuste Datenmodellierung:</a:t>
            </a:r>
            <a:r>
              <a:rPr lang="de-DE" dirty="0"/>
              <a:t> Star-Schema mit Fakt- und Dimensionstabellen, Bereinigung via Power Query</a:t>
            </a:r>
          </a:p>
          <a:p>
            <a:r>
              <a:rPr lang="de-DE" dirty="0"/>
              <a:t>Das Ergebnis ist ein </a:t>
            </a:r>
            <a:r>
              <a:rPr lang="de-DE" b="1" dirty="0"/>
              <a:t>skalierbares, sicheres und wartbares System</a:t>
            </a:r>
            <a:r>
              <a:rPr lang="de-DE" dirty="0"/>
              <a:t>, das sowohl für eigene Analysen als auch als Demonstration professioneller BI-Pipelines geeignet ist.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971AF0-AB12-5B73-C625-F7CA128D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FA37F-FBE6-44F5-BBF2-5BEE49687643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8AD3FE8-1A2D-6F7C-2EEF-C3D6A050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247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FBF71-D4F8-33EE-EF22-06A2C659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439E5B1-5D29-275F-8C9E-71F06D4D5C04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EB3A91E-4440-1522-66BF-1DBD22C2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2243253-65BF-6A8E-C282-EA35337F7602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4EB76E-9C73-EE68-8D72-CB8EE90881E9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Ausblick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B212D5-1C37-5F89-EBE4-CA23CAF4E1A8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Mehr Nutzer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Mehr KPIs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Automatisierung</a:t>
            </a: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B2809F5-A262-2E38-BBF3-16C8F8A61EC6}"/>
              </a:ext>
            </a:extLst>
          </p:cNvPr>
          <p:cNvSpPr txBox="1"/>
          <p:nvPr/>
        </p:nvSpPr>
        <p:spPr>
          <a:xfrm>
            <a:off x="3040712" y="1524244"/>
            <a:ext cx="80275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Das Projekt könnte erweitert werden, zum Beispiel um die Unterstützung mehrerer Nutzer oder zusätzliche Filtermöglichkeiten (Themen, </a:t>
            </a:r>
            <a:r>
              <a:rPr lang="de-DE" dirty="0" err="1"/>
              <a:t>Dozentname</a:t>
            </a:r>
            <a:r>
              <a:rPr lang="de-DE" dirty="0"/>
              <a:t> </a:t>
            </a:r>
            <a:r>
              <a:rPr lang="de-DE" dirty="0" err="1"/>
              <a:t>usw</a:t>
            </a:r>
            <a:r>
              <a:rPr lang="de-DE" dirty="0"/>
              <a:t>).</a:t>
            </a:r>
          </a:p>
          <a:p>
            <a:br>
              <a:rPr lang="de-DE" dirty="0"/>
            </a:br>
            <a:r>
              <a:rPr lang="de-DE" dirty="0"/>
              <a:t>Die aktuelle </a:t>
            </a:r>
            <a:r>
              <a:rPr lang="de-DE" dirty="0" err="1"/>
              <a:t>Streamlit</a:t>
            </a:r>
            <a:r>
              <a:rPr lang="de-DE" dirty="0"/>
              <a:t>-Eingabemaske ist eher einfach gehalten und könnte noch benutzerfreundlicher gestaltet werden.</a:t>
            </a:r>
          </a:p>
          <a:p>
            <a:br>
              <a:rPr lang="de-DE" dirty="0"/>
            </a:br>
            <a:r>
              <a:rPr lang="de-DE" dirty="0"/>
              <a:t>Das Ziel des Projekts war nicht die Erstellung eines fertigen Dashboards und Eingabemaske, sondern vor allem das </a:t>
            </a:r>
            <a:r>
              <a:rPr lang="de-DE" b="1" dirty="0"/>
              <a:t>Verständnis des gesamten Datenprozesses</a:t>
            </a:r>
            <a:r>
              <a:rPr lang="de-DE" dirty="0"/>
              <a:t>, von der Aufbereitung über Analyse bis zur Visualisierung.</a:t>
            </a:r>
          </a:p>
          <a:p>
            <a:endParaRPr lang="de-DE" dirty="0"/>
          </a:p>
          <a:p>
            <a:r>
              <a:rPr lang="de-DE" dirty="0"/>
              <a:t>Report wurde in Power BI Desktop erstellt, Sharing via Power BI Service wäre nur mit Organisationskonto möglich.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100F90-9DC0-4CDF-E9E9-1B270C1D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EBD1-EF54-4C62-BDE8-61F56CB07924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A6F281D-7BFB-58A8-568E-9652086C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8244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ABD6F-8E6D-784B-D559-8316FF44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47448FCF-3436-C56D-8094-10AC75357F2B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6A22F1E-A753-54D3-0822-7A2D4084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75D69E4-5429-8CBB-2F9B-28EF5910BD8F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F9B7D8-09B3-FE7B-B356-E6B9DD4B3D62}"/>
              </a:ext>
            </a:extLst>
          </p:cNvPr>
          <p:cNvSpPr txBox="1">
            <a:spLocks/>
          </p:cNvSpPr>
          <p:nvPr/>
        </p:nvSpPr>
        <p:spPr>
          <a:xfrm>
            <a:off x="2812112" y="0"/>
            <a:ext cx="8229600" cy="16108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Vielen Dank für Ihre Aufmerksamkeit!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177836-AC8B-8597-3AA1-2C5AEBEF6772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de-DE" sz="1400" dirty="0">
              <a:solidFill>
                <a:schemeClr val="bg1"/>
              </a:solidFill>
            </a:endParaRP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B6416EE-E2C0-F165-93F6-8AB6B6C70988}"/>
              </a:ext>
            </a:extLst>
          </p:cNvPr>
          <p:cNvSpPr txBox="1"/>
          <p:nvPr/>
        </p:nvSpPr>
        <p:spPr>
          <a:xfrm>
            <a:off x="2812112" y="2504019"/>
            <a:ext cx="8027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GitHub: </a:t>
            </a:r>
            <a:r>
              <a:rPr lang="de-DE" dirty="0">
                <a:hlinkClick r:id="rId3"/>
              </a:rPr>
              <a:t>github.com/Elena-Wowchik/Projekt_Zeiterfassung</a:t>
            </a:r>
            <a:endParaRPr lang="de-DE" dirty="0"/>
          </a:p>
          <a:p>
            <a:r>
              <a:rPr lang="de-DE" dirty="0"/>
              <a:t>LinkedIn: </a:t>
            </a:r>
            <a:r>
              <a:rPr lang="de-DE" dirty="0">
                <a:hlinkClick r:id="rId4"/>
              </a:rPr>
              <a:t>linkedin.com/in/Elena-</a:t>
            </a:r>
            <a:r>
              <a:rPr lang="de-DE" dirty="0" err="1">
                <a:hlinkClick r:id="rId4"/>
              </a:rPr>
              <a:t>Wowchik</a:t>
            </a:r>
            <a:endParaRPr lang="de-DE" dirty="0"/>
          </a:p>
          <a:p>
            <a:r>
              <a:rPr lang="de-DE" dirty="0"/>
              <a:t>E-Mail:  elena.wowchik@gmx.de                      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61A210-B543-6C22-C26C-22E334AE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FBB7A-55E1-4EB5-AB8E-DC23D393BECD}" type="datetime1">
              <a:rPr lang="de-DE" smtClean="0">
                <a:solidFill>
                  <a:schemeClr val="bg1"/>
                </a:solidFill>
              </a:rPr>
              <a:t>04.03.2026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362F2F4-6A2E-5C6B-1101-A779C4CE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873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Microsoft Office PowerPoint</Application>
  <PresentationFormat>Breitbild</PresentationFormat>
  <Paragraphs>310</Paragraphs>
  <Slides>21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Courier New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PowerQuery/Datenbereinigung</vt:lpstr>
      <vt:lpstr>PowerQuery/Datenmodelierung</vt:lpstr>
      <vt:lpstr>PowerQuery/Datenmodelierung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Donald Brim</dc:creator>
  <cp:lastModifiedBy>evovtch</cp:lastModifiedBy>
  <cp:revision>62</cp:revision>
  <cp:lastPrinted>2026-02-05T13:53:32Z</cp:lastPrinted>
  <dcterms:created xsi:type="dcterms:W3CDTF">2025-03-09T12:27:48Z</dcterms:created>
  <dcterms:modified xsi:type="dcterms:W3CDTF">2026-03-04T16:03:30Z</dcterms:modified>
</cp:coreProperties>
</file>